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charts/chart1.xml" ContentType="application/vnd.openxmlformats-officedocument.drawingml.chart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charts/chart2.xml" ContentType="application/vnd.openxmlformats-officedocument.drawingml.chart+xml"/>
  <Override PartName="/ppt/charts/chart3.xml" ContentType="application/vnd.openxmlformats-officedocument.drawingml.chart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charts/chart4.xml" ContentType="application/vnd.openxmlformats-officedocument.drawingml.chart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charts/chart5.xml" ContentType="application/vnd.openxmlformats-officedocument.drawingml.chart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</p:sldIdLst>
  <p:notesMasterIdLst>
    <p:notesMasterId r:id="rId10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notesMaster" Target="notesMasters/notesMaster1.xml"/><Relationship Id="rId11" Type="http://schemas.openxmlformats.org/officeDocument/2006/relationships/presProps" Target="presProps.xml"/><Relationship Id="rId12" Type="http://schemas.openxmlformats.org/officeDocument/2006/relationships/viewProps" Target="viewProps.xml"/><Relationship Id="rId13" Type="http://schemas.openxmlformats.org/officeDocument/2006/relationships/theme" Target="theme/theme1.xml"/><Relationship Id="rId14" Type="http://schemas.openxmlformats.org/officeDocument/2006/relationships/tableStyles" Target="tableStyles.xml"/></Relationships>
</file>

<file path=ppt/charts/_rels/chart1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1.xlsx"/></Relationships>
</file>

<file path=ppt/charts/_rels/chart2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2.xlsx"/></Relationships>
</file>

<file path=ppt/charts/_rels/chart3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3.xlsx"/></Relationships>
</file>

<file path=ppt/charts/_rels/chart4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4.xlsx"/></Relationships>
</file>

<file path=ppt/charts/_rels/chart5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5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title>
      <c:tx>
        <c:rich>
          <a:bodyPr/>
          <a:lstStyle/>
          <a:p>
            <a:pPr>
              <a:defRPr sz="1200" b="0" i="0" u="none" strike="noStrike">
                <a:solidFill>
                  <a:srgbClr val="1B2D42"/>
                </a:solidFill>
                <a:latin typeface="Arial"/>
              </a:defRPr>
            </a:pPr>
            <a:r>
              <a:rPr sz="1200" b="0" i="0" u="none" strike="noStrike">
                <a:solidFill>
                  <a:srgbClr val="1B2D42"/>
                </a:solidFill>
                <a:latin typeface="Arial"/>
              </a:rPr>
              <a:t>Annual Revenue (₹ Crore)</a:t>
            </a:r>
          </a:p>
        </c:rich>
      </c:tx>
      <c:layout/>
      <c:overlay val="0"/>
    </c:title>
    <c:autoTitleDeleted val="0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Revenue</c:v>
                </c:pt>
              </c:strCache>
            </c:strRef>
          </c:tx>
          <c:spPr>
            <a:solidFill>
              <a:srgbClr val="1A4A7A"/>
            </a:solidFill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900" u="none">
                    <a:solidFill>
                      <a:srgbClr val="374151"/>
                    </a:solidFill>
                    <a:latin typeface="Arial"/>
                  </a:defRPr>
                </a:pPr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dPt>
            <c:idx val="0"/>
            <c:invertIfNegative val="0"/>
            <c:bubble3D val="0"/>
            <c:spPr>
              <a:solidFill>
                <a:srgbClr val="1A4A7A"/>
              </a:solidFill>
              <a:effectLst/>
            </c:spPr>
          </c:dPt>
          <c:dPt>
            <c:idx val="1"/>
            <c:invertIfNegative val="0"/>
            <c:bubble3D val="0"/>
            <c:spPr>
              <a:solidFill>
                <a:srgbClr val="1A4A7A"/>
              </a:solidFill>
              <a:effectLst/>
            </c:spPr>
          </c:dPt>
          <c:dPt>
            <c:idx val="2"/>
            <c:invertIfNegative val="0"/>
            <c:bubble3D val="0"/>
            <c:spPr>
              <a:solidFill>
                <a:srgbClr val="1A4A7A"/>
              </a:solidFill>
              <a:effectLst/>
            </c:spPr>
          </c:dPt>
          <c:dPt>
            <c:idx val="3"/>
            <c:invertIfNegative val="0"/>
            <c:bubble3D val="0"/>
            <c:spPr>
              <a:solidFill>
                <a:srgbClr val="1A4A7A"/>
              </a:solidFill>
              <a:effectLst/>
            </c:spPr>
          </c:dPt>
          <c:dPt>
            <c:idx val="4"/>
            <c:invertIfNegative val="0"/>
            <c:bubble3D val="0"/>
            <c:spPr>
              <a:solidFill>
                <a:srgbClr val="F5A623"/>
              </a:solidFill>
              <a:effectLst/>
            </c:spPr>
          </c:dPt>
          <c:dPt>
            <c:idx val="5"/>
            <c:invertIfNegative val="0"/>
            <c:bubble3D val="0"/>
            <c:spPr>
              <a:solidFill>
                <a:srgbClr val="1A4A7A"/>
              </a:solidFill>
              <a:effectLst/>
            </c:spPr>
          </c:dPt>
          <c:dPt>
            <c:idx val="6"/>
            <c:invertIfNegative val="0"/>
            <c:bubble3D val="0"/>
            <c:spPr>
              <a:solidFill>
                <a:srgbClr val="1A4A7A"/>
              </a:solidFill>
              <a:effectLst/>
            </c:spPr>
          </c:dPt>
          <c:dPt>
            <c:idx val="7"/>
            <c:invertIfNegative val="0"/>
            <c:bubble3D val="0"/>
            <c:spPr>
              <a:solidFill>
                <a:srgbClr val="DC2626"/>
              </a:solidFill>
              <a:effectLst/>
            </c:spPr>
          </c:dPt>
          <c:cat>
            <c:multiLvlStrRef>
              <c:f>Sheet1!$A$2:$A$9</c:f>
              <c:multiLvlStrCache>
                <c:ptCount val="8"/>
                <c:lvl>
                  <c:pt idx="0">
                    <c:v>2010</c:v>
                  </c:pt>
                  <c:pt idx="1">
                    <c:v>2011</c:v>
                  </c:pt>
                  <c:pt idx="2">
                    <c:v>2012</c:v>
                  </c:pt>
                  <c:pt idx="3">
                    <c:v>2013</c:v>
                  </c:pt>
                  <c:pt idx="4">
                    <c:v>2014</c:v>
                  </c:pt>
                  <c:pt idx="5">
                    <c:v>2015</c:v>
                  </c:pt>
                  <c:pt idx="6">
                    <c:v>2016</c:v>
                  </c:pt>
                  <c:pt idx="7">
                    <c:v>2017</c:v>
                  </c:pt>
                </c:lvl>
              </c:multiLvlStrCache>
            </c:multiLvlStrRef>
          </c:cat>
          <c:val>
            <c:numRef>
              <c:f>Sheet1!$B$2:$B$9</c:f>
              <c:numCache>
                <c:formatCode>General</c:formatCode>
                <c:ptCount val="8"/>
                <c:pt idx="0">
                  <c:v>1473.9</c:v>
                </c:pt>
                <c:pt idx="1">
                  <c:v>1259.4</c:v>
                </c:pt>
                <c:pt idx="2">
                  <c:v>1481.7</c:v>
                </c:pt>
                <c:pt idx="3">
                  <c:v>1594.3</c:v>
                </c:pt>
                <c:pt idx="4">
                  <c:v>1638.6</c:v>
                </c:pt>
                <c:pt idx="5">
                  <c:v>1516.1</c:v>
                </c:pt>
                <c:pt idx="6">
                  <c:v>1378.6</c:v>
                </c:pt>
                <c:pt idx="7">
                  <c:v>806.9</c:v>
                </c:pt>
              </c:numCache>
            </c:numRef>
          </c:val>
        </c:ser>
        <c:dLbls>
          <c:numFmt formatCode="#,##0" sourceLinked="0"/>
          <c:txPr>
            <a:bodyPr/>
            <a:lstStyle/>
            <a:p>
              <a:pPr>
                <a:defRPr b="0" i="0" strike="noStrike" sz="900" u="none">
                  <a:solidFill>
                    <a:srgbClr val="374151"/>
                  </a:solidFill>
                  <a:latin typeface="Arial"/>
                </a:defRPr>
              </a:pPr>
            </a:p>
          </c:txPr>
          <c:showLegendKey val="0"/>
          <c:showVal val="1"/>
          <c:showCatName val="0"/>
          <c:showSerName val="0"/>
          <c:showPercent val="0"/>
          <c:showBubbleSize val="0"/>
          <c:showLeaderLines val="0"/>
        </c:dLbls>
        <c:gapWidth val="150"/>
        <c:overlap val="0"/>
        <c:axId val="2094734554"/>
        <c:axId val="2094734552"/>
        <c:axId val="2094734556"/>
      </c:bar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374151"/>
                </a:solidFill>
                <a:latin typeface="Arial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</c:scaling>
        <c:delete val="0"/>
        <c:axPos val="l"/>
        <c:majorGridlines>
          <c:spPr>
            <a:ln w="6350" cap="flat">
              <a:solidFill>
                <a:srgbClr val="E5E7EB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374151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span"/>
  </c:chart>
  <c:spPr>
    <a:solidFill>
      <a:srgbClr val="FFFFFF"/>
    </a:solidFill>
    <a:ln>
      <a:noFill/>
    </a:ln>
    <a:effectLst/>
  </c:spPr>
  <c:externalData r:id="rId1">
    <c:autoUpdate val="0"/>
  </c:externalData>
</c:chartSpace>
</file>

<file path=ppt/charts/chart2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autoTitleDeleted val="1"/>
    <c:plotArea>
      <c:layout/>
      <c:pieChart>
        <c:varyColors val="1"/>
        <c:ser>
          <c:idx val="0"/>
          <c:order val="0"/>
          <c:tx>
            <c:strRef>
              <c:f>Sheet1!$B$1</c:f>
              <c:strCache>
                <c:ptCount val="1"/>
                <c:pt idx="0">
                  <c:v>Revenue</c:v>
                </c:pt>
              </c:strCache>
            </c:strRef>
          </c:tx>
          <c:spPr>
            <a:solidFill>
              <a:schemeClr val="accent1"/>
            </a:solidFill>
            <a:ln w="9525" cap="flat">
              <a:solidFill>
                <a:srgbClr val="F9F9F9"/>
              </a:solidFill>
              <a:prstDash val="solid"/>
              <a:round/>
            </a:ln>
            <a:effectLst/>
          </c:spPr>
          <c:dPt>
            <c:idx val="0"/>
            <c:bubble3D val="0"/>
            <c:spPr>
              <a:solidFill>
                <a:srgbClr val="0D9488"/>
              </a:solidFill>
              <a:effectLst/>
            </c:spPr>
          </c:dPt>
          <c:dPt>
            <c:idx val="1"/>
            <c:bubble3D val="0"/>
            <c:spPr>
              <a:solidFill>
                <a:srgbClr val="1A4A7A"/>
              </a:solidFill>
              <a:effectLst/>
            </c:spPr>
          </c:dPt>
          <c:dPt>
            <c:idx val="2"/>
            <c:bubble3D val="0"/>
            <c:spPr>
              <a:solidFill>
                <a:srgbClr val="F5A623"/>
              </a:solidFill>
              <a:effectLst/>
            </c:spPr>
          </c:dPt>
          <c:dPt>
            <c:idx val="3"/>
            <c:bubble3D val="0"/>
            <c:spPr>
              <a:solidFill>
                <a:srgbClr val="16A34A"/>
              </a:solidFill>
              <a:effectLst/>
            </c:spPr>
          </c:dPt>
          <c:dPt>
            <c:idx val="4"/>
            <c:bubble3D val="0"/>
            <c:spPr>
              <a:solidFill>
                <a:srgbClr val="8B2252"/>
              </a:solidFill>
              <a:effectLst/>
            </c:spPr>
          </c:dPt>
          <c:dPt>
            <c:idx val="5"/>
            <c:bubble3D val="0"/>
            <c:spPr>
              <a:solidFill>
                <a:srgbClr val="E8961A"/>
              </a:solidFill>
              <a:effectLst/>
            </c:spPr>
          </c:dPt>
          <c:dPt>
            <c:idx val="6"/>
            <c:bubble3D val="0"/>
            <c:spPr>
              <a:solidFill>
                <a:srgbClr val="DC2626"/>
              </a:solidFill>
              <a:effectLst/>
            </c:spPr>
          </c:dPt>
          <c:dLbls>
            <c:dLbl>
              <c:idx val="0"/>
              <c:numFmt formatCode="0%" sourceLinked="0"/>
              <c:spPr/>
              <c:txPr>
                <a:bodyPr/>
                <a:lstStyle/>
                <a:p>
                  <a:pPr>
                    <a:defRPr sz="900" b="0" i="0" u="none" strike="noStrike">
                      <a:solidFill>
                        <a:srgbClr val="000000"/>
                      </a:solidFill>
                      <a:latin typeface="Arial"/>
                    </a:defRPr>
                  </a:pPr>
                </a:p>
              </c:txPr>
              <c:showLegendKey val="0"/>
              <c:showVal val="0"/>
              <c:showCatName val="0"/>
              <c:showSerName val="0"/>
              <c:showPercent val="1"/>
              <c:showBubbleSize val="0"/>
            </c:dLbl>
            <c:dLbl>
              <c:idx val="1"/>
              <c:numFmt formatCode="0%" sourceLinked="0"/>
              <c:spPr/>
              <c:txPr>
                <a:bodyPr/>
                <a:lstStyle/>
                <a:p>
                  <a:pPr>
                    <a:defRPr sz="900" b="0" i="0" u="none" strike="noStrike">
                      <a:solidFill>
                        <a:srgbClr val="000000"/>
                      </a:solidFill>
                      <a:latin typeface="Arial"/>
                    </a:defRPr>
                  </a:pPr>
                </a:p>
              </c:txPr>
              <c:showLegendKey val="0"/>
              <c:showVal val="0"/>
              <c:showCatName val="0"/>
              <c:showSerName val="0"/>
              <c:showPercent val="1"/>
              <c:showBubbleSize val="0"/>
            </c:dLbl>
            <c:dLbl>
              <c:idx val="2"/>
              <c:numFmt formatCode="0%" sourceLinked="0"/>
              <c:spPr/>
              <c:txPr>
                <a:bodyPr/>
                <a:lstStyle/>
                <a:p>
                  <a:pPr>
                    <a:defRPr sz="900" b="0" i="0" u="none" strike="noStrike">
                      <a:solidFill>
                        <a:srgbClr val="000000"/>
                      </a:solidFill>
                      <a:latin typeface="Arial"/>
                    </a:defRPr>
                  </a:pPr>
                </a:p>
              </c:txPr>
              <c:showLegendKey val="0"/>
              <c:showVal val="0"/>
              <c:showCatName val="0"/>
              <c:showSerName val="0"/>
              <c:showPercent val="1"/>
              <c:showBubbleSize val="0"/>
            </c:dLbl>
            <c:dLbl>
              <c:idx val="3"/>
              <c:numFmt formatCode="0%" sourceLinked="0"/>
              <c:spPr/>
              <c:txPr>
                <a:bodyPr/>
                <a:lstStyle/>
                <a:p>
                  <a:pPr>
                    <a:defRPr sz="900" b="0" i="0" u="none" strike="noStrike">
                      <a:solidFill>
                        <a:srgbClr val="000000"/>
                      </a:solidFill>
                      <a:latin typeface="Arial"/>
                    </a:defRPr>
                  </a:pPr>
                </a:p>
              </c:txPr>
              <c:showLegendKey val="0"/>
              <c:showVal val="0"/>
              <c:showCatName val="0"/>
              <c:showSerName val="0"/>
              <c:showPercent val="1"/>
              <c:showBubbleSize val="0"/>
            </c:dLbl>
            <c:dLbl>
              <c:idx val="4"/>
              <c:numFmt formatCode="0%" sourceLinked="0"/>
              <c:spPr/>
              <c:txPr>
                <a:bodyPr/>
                <a:lstStyle/>
                <a:p>
                  <a:pPr>
                    <a:defRPr sz="900" b="0" i="0" u="none" strike="noStrike">
                      <a:solidFill>
                        <a:srgbClr val="000000"/>
                      </a:solidFill>
                      <a:latin typeface="Arial"/>
                    </a:defRPr>
                  </a:pPr>
                </a:p>
              </c:txPr>
              <c:showLegendKey val="0"/>
              <c:showVal val="0"/>
              <c:showCatName val="0"/>
              <c:showSerName val="0"/>
              <c:showPercent val="1"/>
              <c:showBubbleSize val="0"/>
            </c:dLbl>
            <c:dLbl>
              <c:idx val="5"/>
              <c:numFmt formatCode="0%" sourceLinked="0"/>
              <c:spPr/>
              <c:txPr>
                <a:bodyPr/>
                <a:lstStyle/>
                <a:p>
                  <a:pPr>
                    <a:defRPr sz="900" b="0" i="0" u="none" strike="noStrike">
                      <a:solidFill>
                        <a:srgbClr val="000000"/>
                      </a:solidFill>
                      <a:latin typeface="Arial"/>
                    </a:defRPr>
                  </a:pPr>
                </a:p>
              </c:txPr>
              <c:showLegendKey val="0"/>
              <c:showVal val="0"/>
              <c:showCatName val="0"/>
              <c:showSerName val="0"/>
              <c:showPercent val="1"/>
              <c:showBubbleSize val="0"/>
            </c:dLbl>
            <c:dLbl>
              <c:idx val="6"/>
              <c:numFmt formatCode="0%" sourceLinked="0"/>
              <c:spPr/>
              <c:txPr>
                <a:bodyPr/>
                <a:lstStyle/>
                <a:p>
                  <a:pPr>
                    <a:defRPr sz="900" b="0" i="0" u="none" strike="noStrike">
                      <a:solidFill>
                        <a:srgbClr val="000000"/>
                      </a:solidFill>
                      <a:latin typeface="Arial"/>
                    </a:defRPr>
                  </a:pPr>
                </a:p>
              </c:txPr>
              <c:showLegendKey val="0"/>
              <c:showVal val="0"/>
              <c:showCatName val="0"/>
              <c:showSerName val="0"/>
              <c:showPercent val="1"/>
              <c:showBubbleSize val="0"/>
            </c:dLbl>
            <c:numFmt formatCode="0%" sourceLinked="0"/>
            <c:txPr>
              <a:bodyPr/>
              <a:lstStyle/>
              <a:p>
                <a:pPr>
                  <a:defRPr sz="1800" b="0" i="0" u="none" strike="noStrike">
                    <a:solidFill>
                      <a:srgbClr val="000000"/>
                    </a:solidFill>
                    <a:latin typeface="Arial"/>
                  </a:defRPr>
                </a:pPr>
              </a:p>
            </c:txPr>
            <c:dLblPos val="ctr"/>
            <c:showLegendKey val="0"/>
            <c:showVal val="0"/>
            <c:showCatName val="1"/>
            <c:showSerName val="0"/>
            <c:showPercent val="1"/>
            <c:showBubbleSize val="0"/>
            <c:showLeaderLines val="0"/>
          </c:dLbls>
          <c:cat>
            <c:strRef>
              <c:f>Sheet1!$A$2:$A$8</c:f>
              <c:strCache>
                <c:ptCount val="7"/>
                <c:pt idx="0">
                  <c:v>Sub-Saharan Africa</c:v>
                </c:pt>
                <c:pt idx="1">
                  <c:v>Europe</c:v>
                </c:pt>
                <c:pt idx="2">
                  <c:v>Middle East &amp; N. Africa</c:v>
                </c:pt>
                <c:pt idx="3">
                  <c:v>Asia</c:v>
                </c:pt>
                <c:pt idx="4">
                  <c:v>C. America &amp; Caribbean</c:v>
                </c:pt>
                <c:pt idx="5">
                  <c:v>Australia &amp; Oceania</c:v>
                </c:pt>
                <c:pt idx="6">
                  <c:v>North America</c:v>
                </c:pt>
              </c:strCache>
            </c:strRef>
          </c:cat>
          <c:val>
            <c:numRef>
              <c:f>Sheet1!$B$2:$B$8</c:f>
              <c:numCache>
                <c:ptCount val="7"/>
                <c:pt idx="0">
                  <c:v>2996.5</c:v>
                </c:pt>
                <c:pt idx="1">
                  <c:v>2966.6</c:v>
                </c:pt>
                <c:pt idx="2">
                  <c:v>1470.9</c:v>
                </c:pt>
                <c:pt idx="3">
                  <c:v>1408.5</c:v>
                </c:pt>
                <c:pt idx="4">
                  <c:v>1209.6</c:v>
                </c:pt>
                <c:pt idx="5">
                  <c:v>887.8</c:v>
                </c:pt>
                <c:pt idx="6">
                  <c:v>209.7</c:v>
                </c:pt>
              </c:numCache>
            </c:numRef>
          </c:val>
        </c:ser>
        <c:firstSliceAng val="0"/>
      </c:pieChart>
      <c:spPr>
        <a:noFill/>
        <a:ln>
          <a:noFill/>
        </a:ln>
        <a:effectLst/>
      </c:spPr>
    </c:plotArea>
    <c:legend>
      <c:legendPos val="b"/>
      <c:overlay val="0"/>
      <c:txPr>
        <a:bodyPr/>
        <a:lstStyle/>
        <a:p>
          <a:pPr>
            <a:defRPr sz="800">      </a:defRPr>
          </a:pPr>
          <a:endParaRPr lang="en-US"/>
        </a:p>
      </c:txPr>
    </c:legend>
    <c:plotVisOnly val="1"/>
    <c:dispBlanksAs val="span"/>
  </c:chart>
  <c:spPr>
    <a:solidFill>
      <a:srgbClr val="FFFFFF"/>
    </a:solidFill>
    <a:ln>
      <a:noFill/>
    </a:ln>
    <a:effectLst/>
  </c:spPr>
  <c:externalData r:id="rId1">
    <c:autoUpdate val="0"/>
  </c:externalData>
</c:chartSpace>
</file>

<file path=ppt/charts/chart3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title>
      <c:tx>
        <c:rich>
          <a:bodyPr/>
          <a:lstStyle/>
          <a:p>
            <a:pPr>
              <a:defRPr sz="1100" b="0" i="0" u="none" strike="noStrike">
                <a:solidFill>
                  <a:srgbClr val="1B2D42"/>
                </a:solidFill>
                <a:latin typeface="Arial"/>
              </a:defRPr>
            </a:pPr>
            <a:r>
              <a:rPr sz="1100" b="0" i="0" u="none" strike="noStrike">
                <a:solidFill>
                  <a:srgbClr val="1B2D42"/>
                </a:solidFill>
                <a:latin typeface="Arial"/>
              </a:rPr>
              <a:t>Revenue (₹ Crore)</a:t>
            </a:r>
          </a:p>
        </c:rich>
      </c:tx>
      <c:layout/>
      <c:overlay val="0"/>
    </c:title>
    <c:autoTitleDeleted val="0"/>
    <c:plotArea>
      <c:layout/>
      <c:barChart>
        <c:barDir val="bar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Revenue (₹ Cr)</c:v>
                </c:pt>
              </c:strCache>
            </c:strRef>
          </c:tx>
          <c:spPr>
            <a:solidFill>
              <a:srgbClr val="0D9488"/>
            </a:solidFill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900" u="none">
                    <a:solidFill>
                      <a:srgbClr val="374151"/>
                    </a:solidFill>
                    <a:latin typeface="Arial"/>
                  </a:defRPr>
                </a:pPr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dPt>
            <c:idx val="0"/>
            <c:invertIfNegative val="0"/>
            <c:bubble3D val="0"/>
            <c:spPr>
              <a:solidFill>
                <a:srgbClr val="0D9488"/>
              </a:solidFill>
              <a:effectLst/>
            </c:spPr>
          </c:dPt>
          <c:dPt>
            <c:idx val="1"/>
            <c:invertIfNegative val="0"/>
            <c:bubble3D val="0"/>
            <c:spPr>
              <a:solidFill>
                <a:srgbClr val="1A4A7A"/>
              </a:solidFill>
              <a:effectLst/>
            </c:spPr>
          </c:dPt>
          <c:dPt>
            <c:idx val="2"/>
            <c:invertIfNegative val="0"/>
            <c:bubble3D val="0"/>
            <c:spPr>
              <a:solidFill>
                <a:srgbClr val="F5A623"/>
              </a:solidFill>
              <a:effectLst/>
            </c:spPr>
          </c:dPt>
          <c:dPt>
            <c:idx val="3"/>
            <c:invertIfNegative val="0"/>
            <c:bubble3D val="0"/>
            <c:spPr>
              <a:solidFill>
                <a:srgbClr val="16A34A"/>
              </a:solidFill>
              <a:effectLst/>
            </c:spPr>
          </c:dPt>
          <c:dPt>
            <c:idx val="4"/>
            <c:invertIfNegative val="0"/>
            <c:bubble3D val="0"/>
            <c:spPr>
              <a:solidFill>
                <a:srgbClr val="8B2252"/>
              </a:solidFill>
              <a:effectLst/>
            </c:spPr>
          </c:dPt>
          <c:dPt>
            <c:idx val="5"/>
            <c:invertIfNegative val="0"/>
            <c:bubble3D val="0"/>
            <c:spPr>
              <a:solidFill>
                <a:srgbClr val="E8961A"/>
              </a:solidFill>
              <a:effectLst/>
            </c:spPr>
          </c:dPt>
          <c:dPt>
            <c:idx val="6"/>
            <c:invertIfNegative val="0"/>
            <c:bubble3D val="0"/>
            <c:spPr>
              <a:solidFill>
                <a:srgbClr val="DC2626"/>
              </a:solidFill>
              <a:effectLst/>
            </c:spPr>
          </c:dPt>
          <c:cat>
            <c:multiLvlStrRef>
              <c:f>Sheet1!$A$2:$A$8</c:f>
              <c:multiLvlStrCache>
                <c:ptCount val="7"/>
                <c:lvl>
                  <c:pt idx="0">
                    <c:v>Sub-Saharan Africa</c:v>
                  </c:pt>
                  <c:pt idx="1">
                    <c:v>Europe</c:v>
                  </c:pt>
                  <c:pt idx="2">
                    <c:v>Middle East &amp; N. Afr…</c:v>
                  </c:pt>
                  <c:pt idx="3">
                    <c:v>Asia</c:v>
                  </c:pt>
                  <c:pt idx="4">
                    <c:v>C. America &amp; Caribbe…</c:v>
                  </c:pt>
                  <c:pt idx="5">
                    <c:v>Australia &amp; Oceania</c:v>
                  </c:pt>
                  <c:pt idx="6">
                    <c:v>North America</c:v>
                  </c:pt>
                </c:lvl>
              </c:multiLvlStrCache>
            </c:multiLvlStrRef>
          </c:cat>
          <c:val>
            <c:numRef>
              <c:f>Sheet1!$B$2:$B$8</c:f>
              <c:numCache>
                <c:formatCode>General</c:formatCode>
                <c:ptCount val="7"/>
                <c:pt idx="0">
                  <c:v>2996.5</c:v>
                </c:pt>
                <c:pt idx="1">
                  <c:v>2966.6</c:v>
                </c:pt>
                <c:pt idx="2">
                  <c:v>1470.9</c:v>
                </c:pt>
                <c:pt idx="3">
                  <c:v>1408.5</c:v>
                </c:pt>
                <c:pt idx="4">
                  <c:v>1209.6</c:v>
                </c:pt>
                <c:pt idx="5">
                  <c:v>887.8</c:v>
                </c:pt>
                <c:pt idx="6">
                  <c:v>209.7</c:v>
                </c:pt>
              </c:numCache>
            </c:numRef>
          </c:val>
        </c:ser>
        <c:dLbls>
          <c:numFmt formatCode="#,##0" sourceLinked="0"/>
          <c:txPr>
            <a:bodyPr/>
            <a:lstStyle/>
            <a:p>
              <a:pPr>
                <a:defRPr b="0" i="0" strike="noStrike" sz="900" u="none">
                  <a:solidFill>
                    <a:srgbClr val="374151"/>
                  </a:solidFill>
                  <a:latin typeface="Arial"/>
                </a:defRPr>
              </a:pPr>
            </a:p>
          </c:txPr>
          <c:showLegendKey val="0"/>
          <c:showVal val="1"/>
          <c:showCatName val="0"/>
          <c:showSerName val="0"/>
          <c:showPercent val="0"/>
          <c:showBubbleSize val="0"/>
          <c:showLeaderLines val="0"/>
        </c:dLbls>
        <c:gapWidth val="150"/>
        <c:overlap val="0"/>
        <c:axId val="2094734554"/>
        <c:axId val="2094734552"/>
        <c:axId val="2094734556"/>
      </c:barChart>
      <c:catAx>
        <c:axId val="2094734554"/>
        <c:scaling>
          <c:orientation val="minMax"/>
        </c:scaling>
        <c:delete val="0"/>
        <c:axPos val="l"/>
        <c:numFmt formatCode="General" sourceLinked="1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374151"/>
                </a:solidFill>
                <a:latin typeface="Arial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</c:scaling>
        <c:delete val="0"/>
        <c:axPos val="b"/>
        <c:majorGridlines>
          <c:spPr>
            <a:ln w="6350" cap="flat">
              <a:solidFill>
                <a:srgbClr val="E5E7EB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374151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span"/>
  </c:chart>
  <c:spPr>
    <a:solidFill>
      <a:srgbClr val="FFFFFF"/>
    </a:solidFill>
    <a:ln>
      <a:noFill/>
    </a:ln>
    <a:effectLst/>
  </c:spPr>
  <c:externalData r:id="rId1">
    <c:autoUpdate val="0"/>
  </c:externalData>
</c:chartSpace>
</file>

<file path=ppt/charts/chart4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autoTitleDeleted val="1"/>
    <c:plotArea>
      <c:layout/>
      <c:doughnutChart>
        <c:varyColors val="1"/>
        <c:ser>
          <c:idx val="0"/>
          <c:order val="0"/>
          <c:tx>
            <c:strRef>
              <c:f>Sheet1!$B$1</c:f>
              <c:strCache>
                <c:ptCount val="1"/>
                <c:pt idx="0">
                  <c:v>Revenue</c:v>
                </c:pt>
              </c:strCache>
            </c:strRef>
          </c:tx>
          <c:spPr>
            <a:solidFill>
              <a:schemeClr val="accent1"/>
            </a:solidFill>
            <a:ln w="9525" cap="flat">
              <a:solidFill>
                <a:srgbClr val="F9F9F9"/>
              </a:solidFill>
              <a:prstDash val="solid"/>
              <a:round/>
            </a:ln>
            <a:effectLst/>
          </c:spPr>
          <c:dPt>
            <c:idx val="0"/>
            <c:bubble3D val="0"/>
            <c:spPr>
              <a:solidFill>
                <a:srgbClr val="0D9488"/>
              </a:solidFill>
              <a:effectLst/>
            </c:spPr>
          </c:dPt>
          <c:dPt>
            <c:idx val="1"/>
            <c:bubble3D val="0"/>
            <c:spPr>
              <a:solidFill>
                <a:srgbClr val="0D1B2A"/>
              </a:solidFill>
              <a:effectLst/>
            </c:spPr>
          </c:dPt>
          <c:dLbls>
            <c:dLbl>
              <c:idx val="0"/>
              <c:numFmt formatCode="0%" sourceLinked="0"/>
              <c:spPr/>
              <c:txPr>
                <a:bodyPr/>
                <a:lstStyle/>
                <a:p>
                  <a:pPr>
                    <a:defRPr sz="1200" b="0" i="0" u="none" strike="noStrike">
                      <a:solidFill>
                        <a:srgbClr val="000000"/>
                      </a:solidFill>
                      <a:latin typeface="Arial"/>
                    </a:defRPr>
                  </a:pPr>
                </a:p>
              </c:txPr>
              <c:showLegendKey val="0"/>
              <c:showVal val="0"/>
              <c:showCatName val="0"/>
              <c:showSerName val="0"/>
              <c:showPercent val="1"/>
              <c:showBubbleSize val="0"/>
            </c:dLbl>
            <c:dLbl>
              <c:idx val="1"/>
              <c:numFmt formatCode="0%" sourceLinked="0"/>
              <c:spPr/>
              <c:txPr>
                <a:bodyPr/>
                <a:lstStyle/>
                <a:p>
                  <a:pPr>
                    <a:defRPr sz="1200" b="0" i="0" u="none" strike="noStrike">
                      <a:solidFill>
                        <a:srgbClr val="000000"/>
                      </a:solidFill>
                      <a:latin typeface="Arial"/>
                    </a:defRPr>
                  </a:pPr>
                </a:p>
              </c:txPr>
              <c:showLegendKey val="0"/>
              <c:showVal val="0"/>
              <c:showCatName val="0"/>
              <c:showSerName val="0"/>
              <c:showPercent val="1"/>
              <c:showBubbleSize val="0"/>
            </c:dLbl>
            <c:numFmt formatCode="0%" sourceLinked="0"/>
            <c:txPr>
              <a:bodyPr/>
              <a:lstStyle/>
              <a:p>
                <a:pPr>
                  <a:defRPr sz="1800" b="0" i="0" u="none" strike="noStrike">
                    <a:solidFill>
                      <a:srgbClr val="000000"/>
                    </a:solidFill>
                    <a:latin typeface="Arial"/>
                  </a:defRPr>
                </a:pPr>
              </a:p>
            </c:txPr>
            <c:showLegendKey val="0"/>
            <c:showVal val="0"/>
            <c:showCatName val="1"/>
            <c:showSerName val="0"/>
            <c:showPercent val="1"/>
            <c:showBubbleSize val="0"/>
            <c:showLeaderLines val="0"/>
          </c:dLbls>
          <c:cat>
            <c:strRef>
              <c:f>Sheet1!$A$2:$A$3</c:f>
              <c:strCache>
                <c:ptCount val="2"/>
                <c:pt idx="0">
                  <c:v>Online</c:v>
                </c:pt>
                <c:pt idx="1">
                  <c:v>Offline</c:v>
                </c:pt>
              </c:strCache>
            </c:strRef>
          </c:cat>
          <c:val>
            <c:numRef>
              <c:f>Sheet1!$B$2:$B$3</c:f>
              <c:numCache>
                <c:ptCount val="2"/>
                <c:pt idx="0">
                  <c:v>5278.5</c:v>
                </c:pt>
                <c:pt idx="1">
                  <c:v>5871</c:v>
                </c:pt>
              </c:numCache>
            </c:numRef>
          </c:val>
        </c:ser>
        <c:firstSliceAng val="0"/>
        <c:holeSize val="55"/>
      </c:doughnutChart>
      <c:spPr>
        <a:noFill/>
        <a:ln>
          <a:noFill/>
        </a:ln>
        <a:effectLst/>
      </c:spPr>
    </c:plotArea>
    <c:legend>
      <c:legendPos val="b"/>
      <c:overlay val="0"/>
      <c:txPr>
        <a:bodyPr/>
        <a:lstStyle/>
        <a:p>
          <a:pPr>
            <a:defRPr sz="1100">      </a:defRPr>
          </a:pPr>
          <a:endParaRPr lang="en-US"/>
        </a:p>
      </c:txPr>
    </c:legend>
    <c:plotVisOnly val="1"/>
    <c:dispBlanksAs val="span"/>
  </c:chart>
  <c:spPr>
    <a:solidFill>
      <a:srgbClr val="FFFFFF"/>
    </a:solidFill>
    <a:ln>
      <a:noFill/>
    </a:ln>
    <a:effectLst/>
  </c:spPr>
  <c:externalData r:id="rId1">
    <c:autoUpdate val="0"/>
  </c:externalData>
</c:chartSpace>
</file>

<file path=ppt/charts/chart5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title>
      <c:tx>
        <c:rich>
          <a:bodyPr/>
          <a:lstStyle/>
          <a:p>
            <a:pPr>
              <a:defRPr sz="1100" b="0" i="0" u="none" strike="noStrike">
                <a:solidFill>
                  <a:srgbClr val="1B2D42"/>
                </a:solidFill>
                <a:latin typeface="Arial"/>
              </a:defRPr>
            </a:pPr>
            <a:r>
              <a:rPr sz="1100" b="0" i="0" u="none" strike="noStrike">
                <a:solidFill>
                  <a:srgbClr val="1B2D42"/>
                </a:solidFill>
                <a:latin typeface="Arial"/>
              </a:rPr>
              <a:t>Revenue (₹ Crore)</a:t>
            </a:r>
          </a:p>
        </c:rich>
      </c:tx>
      <c:layout/>
      <c:overlay val="0"/>
    </c:title>
    <c:autoTitleDeleted val="0"/>
    <c:plotArea>
      <c:layout/>
      <c:barChart>
        <c:barDir val="bar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Revenue (₹ Cr)</c:v>
                </c:pt>
              </c:strCache>
            </c:strRef>
          </c:tx>
          <c:spPr>
            <a:solidFill>
              <a:srgbClr val="F5A623"/>
            </a:solidFill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900" u="none">
                    <a:solidFill>
                      <a:srgbClr val="374151"/>
                    </a:solidFill>
                    <a:latin typeface="Arial"/>
                  </a:defRPr>
                </a:pPr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dPt>
            <c:idx val="0"/>
            <c:invertIfNegative val="0"/>
            <c:bubble3D val="0"/>
            <c:spPr>
              <a:solidFill>
                <a:srgbClr val="F5A623"/>
              </a:solidFill>
              <a:effectLst/>
            </c:spPr>
          </c:dPt>
          <c:dPt>
            <c:idx val="1"/>
            <c:invertIfNegative val="0"/>
            <c:bubble3D val="0"/>
            <c:spPr>
              <a:solidFill>
                <a:srgbClr val="E8961A"/>
              </a:solidFill>
              <a:effectLst/>
            </c:spPr>
          </c:dPt>
          <c:dPt>
            <c:idx val="2"/>
            <c:invertIfNegative val="0"/>
            <c:bubble3D val="0"/>
            <c:spPr>
              <a:solidFill>
                <a:srgbClr val="0D9488"/>
              </a:solidFill>
              <a:effectLst/>
            </c:spPr>
          </c:dPt>
          <c:dPt>
            <c:idx val="3"/>
            <c:invertIfNegative val="0"/>
            <c:bubble3D val="0"/>
            <c:spPr>
              <a:solidFill>
                <a:srgbClr val="1A4A7A"/>
              </a:solidFill>
              <a:effectLst/>
            </c:spPr>
          </c:dPt>
          <c:dPt>
            <c:idx val="4"/>
            <c:invertIfNegative val="0"/>
            <c:bubble3D val="0"/>
            <c:spPr>
              <a:solidFill>
                <a:srgbClr val="1A4A7A"/>
              </a:solidFill>
              <a:effectLst/>
            </c:spPr>
          </c:dPt>
          <c:dPt>
            <c:idx val="5"/>
            <c:invertIfNegative val="0"/>
            <c:bubble3D val="0"/>
            <c:spPr>
              <a:solidFill>
                <a:srgbClr val="1A4A7A"/>
              </a:solidFill>
              <a:effectLst/>
            </c:spPr>
          </c:dPt>
          <c:dPt>
            <c:idx val="6"/>
            <c:invertIfNegative val="0"/>
            <c:bubble3D val="0"/>
            <c:spPr>
              <a:solidFill>
                <a:srgbClr val="1A4A7A"/>
              </a:solidFill>
              <a:effectLst/>
            </c:spPr>
          </c:dPt>
          <c:dPt>
            <c:idx val="7"/>
            <c:invertIfNegative val="0"/>
            <c:bubble3D val="0"/>
            <c:spPr>
              <a:solidFill>
                <a:srgbClr val="1A4A7A"/>
              </a:solidFill>
              <a:effectLst/>
            </c:spPr>
          </c:dPt>
          <c:dPt>
            <c:idx val="8"/>
            <c:invertIfNegative val="0"/>
            <c:bubble3D val="0"/>
            <c:spPr>
              <a:solidFill>
                <a:srgbClr val="1A4A7A"/>
              </a:solidFill>
              <a:effectLst/>
            </c:spPr>
          </c:dPt>
          <c:dPt>
            <c:idx val="9"/>
            <c:invertIfNegative val="0"/>
            <c:bubble3D val="0"/>
            <c:spPr>
              <a:solidFill>
                <a:srgbClr val="1A4A7A"/>
              </a:solidFill>
              <a:effectLst/>
            </c:spPr>
          </c:dPt>
          <c:cat>
            <c:multiLvlStrRef>
              <c:f>Sheet1!$A$2:$A$11</c:f>
              <c:multiLvlStrCache>
                <c:ptCount val="10"/>
                <c:lvl>
                  <c:pt idx="0">
                    <c:v>Cuba</c:v>
                  </c:pt>
                  <c:pt idx="1">
                    <c:v>Papua New Guinea</c:v>
                  </c:pt>
                  <c:pt idx="2">
                    <c:v>Ghana</c:v>
                  </c:pt>
                  <c:pt idx="3">
                    <c:v>Costa Rica</c:v>
                  </c:pt>
                  <c:pt idx="4">
                    <c:v>Iran</c:v>
                  </c:pt>
                  <c:pt idx="5">
                    <c:v>Chad</c:v>
                  </c:pt>
                  <c:pt idx="6">
                    <c:v>Central African Republic</c:v>
                  </c:pt>
                  <c:pt idx="7">
                    <c:v>Malaysia</c:v>
                  </c:pt>
                  <c:pt idx="8">
                    <c:v>Austria</c:v>
                  </c:pt>
                  <c:pt idx="9">
                    <c:v>Vanuatu</c:v>
                  </c:pt>
                </c:lvl>
              </c:multiLvlStrCache>
            </c:multiLvlStrRef>
          </c:cat>
          <c:val>
            <c:numRef>
              <c:f>Sheet1!$B$2:$B$11</c:f>
              <c:numCache>
                <c:formatCode>General</c:formatCode>
                <c:ptCount val="10"/>
                <c:pt idx="0">
                  <c:v>231.2</c:v>
                </c:pt>
                <c:pt idx="1">
                  <c:v>186.6</c:v>
                </c:pt>
                <c:pt idx="2">
                  <c:v>178.7</c:v>
                </c:pt>
                <c:pt idx="3">
                  <c:v>164.9</c:v>
                </c:pt>
                <c:pt idx="4">
                  <c:v>157.2</c:v>
                </c:pt>
                <c:pt idx="5">
                  <c:v>145.1</c:v>
                </c:pt>
                <c:pt idx="6">
                  <c:v>139.4</c:v>
                </c:pt>
                <c:pt idx="7">
                  <c:v>137.9</c:v>
                </c:pt>
                <c:pt idx="8">
                  <c:v>136.1</c:v>
                </c:pt>
                <c:pt idx="9">
                  <c:v>134.5</c:v>
                </c:pt>
              </c:numCache>
            </c:numRef>
          </c:val>
        </c:ser>
        <c:dLbls>
          <c:numFmt formatCode="#,##0" sourceLinked="0"/>
          <c:txPr>
            <a:bodyPr/>
            <a:lstStyle/>
            <a:p>
              <a:pPr>
                <a:defRPr b="0" i="0" strike="noStrike" sz="900" u="none">
                  <a:solidFill>
                    <a:srgbClr val="374151"/>
                  </a:solidFill>
                  <a:latin typeface="Arial"/>
                </a:defRPr>
              </a:pPr>
            </a:p>
          </c:txPr>
          <c:showLegendKey val="0"/>
          <c:showVal val="1"/>
          <c:showCatName val="0"/>
          <c:showSerName val="0"/>
          <c:showPercent val="0"/>
          <c:showBubbleSize val="0"/>
          <c:showLeaderLines val="0"/>
        </c:dLbls>
        <c:gapWidth val="150"/>
        <c:overlap val="0"/>
        <c:axId val="2094734554"/>
        <c:axId val="2094734552"/>
        <c:axId val="2094734556"/>
      </c:barChart>
      <c:catAx>
        <c:axId val="2094734554"/>
        <c:scaling>
          <c:orientation val="minMax"/>
        </c:scaling>
        <c:delete val="0"/>
        <c:axPos val="l"/>
        <c:numFmt formatCode="General" sourceLinked="1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374151"/>
                </a:solidFill>
                <a:latin typeface="Arial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</c:scaling>
        <c:delete val="0"/>
        <c:axPos val="b"/>
        <c:majorGridlines>
          <c:spPr>
            <a:ln w="12700" cap="flat">
              <a:solidFill>
                <a:srgbClr val="E5E7EB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374151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span"/>
  </c:chart>
  <c:spPr>
    <a:solidFill>
      <a:srgbClr val="FFFFFF"/>
    </a:solidFill>
    <a:ln>
      <a:noFill/>
    </a:ln>
    <a:effectLst/>
  </c:spPr>
  <c:externalData r:id="rId1">
    <c:autoUpdate val="0"/>
  </c:externalData>
</c:chartSpace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chart" Target="/ppt/charts/chart1.xml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chart" Target="/ppt/charts/chart2.xml"/><Relationship Id="rId2" Type="http://schemas.openxmlformats.org/officeDocument/2006/relationships/chart" Target="/ppt/charts/chart3.xml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chart" Target="/ppt/charts/chart4.xml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chart" Target="/ppt/charts/chart5.xml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D1B2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09728" cy="5143500"/>
          </a:xfrm>
          <a:prstGeom prst="rect">
            <a:avLst/>
          </a:prstGeom>
          <a:solidFill>
            <a:srgbClr val="F5A623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4663440"/>
            <a:ext cx="9144000" cy="480060"/>
          </a:xfrm>
          <a:prstGeom prst="rect">
            <a:avLst/>
          </a:prstGeom>
          <a:solidFill>
            <a:srgbClr val="1A4A7A"/>
          </a:solidFill>
          <a:ln/>
        </p:spPr>
      </p:sp>
      <p:sp>
        <p:nvSpPr>
          <p:cNvPr id="4" name="Shape 2"/>
          <p:cNvSpPr/>
          <p:nvPr/>
        </p:nvSpPr>
        <p:spPr>
          <a:xfrm>
            <a:off x="7498080" y="457200"/>
            <a:ext cx="1188720" cy="1188720"/>
          </a:xfrm>
          <a:prstGeom prst="ellipse">
            <a:avLst/>
          </a:prstGeom>
          <a:solidFill>
            <a:srgbClr val="F5A623"/>
          </a:solidFill>
          <a:ln w="12700">
            <a:solidFill>
              <a:srgbClr val="F5A623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7498080" y="502920"/>
            <a:ext cx="118872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4000" dirty="0">
                <a:solidFill>
                  <a:srgbClr val="000000"/>
                </a:solidFill>
              </a:rPr>
              <a:t>📊</a:t>
            </a:r>
            <a:endParaRPr lang="en-US" sz="4000" dirty="0"/>
          </a:p>
        </p:txBody>
      </p:sp>
      <p:sp>
        <p:nvSpPr>
          <p:cNvPr id="6" name="Text 4"/>
          <p:cNvSpPr/>
          <p:nvPr/>
        </p:nvSpPr>
        <p:spPr>
          <a:xfrm>
            <a:off x="365760" y="1005840"/>
            <a:ext cx="68580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4200" b="1" spc="400" kern="0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SALES ANALYTICS</a:t>
            </a:r>
            <a:endParaRPr lang="en-US" sz="4200" dirty="0"/>
          </a:p>
        </p:txBody>
      </p:sp>
      <p:sp>
        <p:nvSpPr>
          <p:cNvPr id="7" name="Text 5"/>
          <p:cNvSpPr/>
          <p:nvPr/>
        </p:nvSpPr>
        <p:spPr>
          <a:xfrm>
            <a:off x="365760" y="1691640"/>
            <a:ext cx="68580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600" b="1" spc="800" kern="0" dirty="0">
                <a:solidFill>
                  <a:srgbClr val="F5A623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REPORT</a:t>
            </a:r>
            <a:endParaRPr lang="en-US" sz="3600" dirty="0"/>
          </a:p>
        </p:txBody>
      </p:sp>
      <p:sp>
        <p:nvSpPr>
          <p:cNvPr id="8" name="Shape 6"/>
          <p:cNvSpPr/>
          <p:nvPr/>
        </p:nvSpPr>
        <p:spPr>
          <a:xfrm>
            <a:off x="365760" y="2468880"/>
            <a:ext cx="3657600" cy="45720"/>
          </a:xfrm>
          <a:prstGeom prst="rect">
            <a:avLst/>
          </a:prstGeom>
          <a:solidFill>
            <a:srgbClr val="F5A623"/>
          </a:solidFill>
          <a:ln/>
        </p:spPr>
      </p:sp>
      <p:sp>
        <p:nvSpPr>
          <p:cNvPr id="9" name="Text 7"/>
          <p:cNvSpPr/>
          <p:nvPr/>
        </p:nvSpPr>
        <p:spPr>
          <a:xfrm>
            <a:off x="365760" y="2606040"/>
            <a:ext cx="8229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i="1" dirty="0">
                <a:solidFill>
                  <a:srgbClr val="E5E7E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Comprehensive Business Performance Overview</a:t>
            </a:r>
            <a:endParaRPr lang="en-US" sz="1600" dirty="0"/>
          </a:p>
        </p:txBody>
      </p:sp>
      <p:sp>
        <p:nvSpPr>
          <p:cNvPr id="10" name="Text 8"/>
          <p:cNvSpPr/>
          <p:nvPr/>
        </p:nvSpPr>
        <p:spPr>
          <a:xfrm>
            <a:off x="365760" y="3154680"/>
            <a:ext cx="8229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9CA3A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2010 – 2017  |  1,000 Transactions  |  Global Markets</a:t>
            </a:r>
            <a:endParaRPr lang="en-US" sz="1400" dirty="0"/>
          </a:p>
        </p:txBody>
      </p:sp>
      <p:sp>
        <p:nvSpPr>
          <p:cNvPr id="11" name="Shape 9"/>
          <p:cNvSpPr/>
          <p:nvPr/>
        </p:nvSpPr>
        <p:spPr>
          <a:xfrm>
            <a:off x="365760" y="3794760"/>
            <a:ext cx="1828800" cy="685800"/>
          </a:xfrm>
          <a:prstGeom prst="rect">
            <a:avLst/>
          </a:prstGeom>
          <a:solidFill>
            <a:srgbClr val="1A4A7A"/>
          </a:solidFill>
          <a:ln w="12700">
            <a:solidFill>
              <a:srgbClr val="F5A623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365760" y="3822192"/>
            <a:ext cx="18288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5A623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₹11,150 Cr</a:t>
            </a:r>
            <a:endParaRPr lang="en-US" sz="1400" dirty="0"/>
          </a:p>
        </p:txBody>
      </p:sp>
      <p:sp>
        <p:nvSpPr>
          <p:cNvPr id="13" name="Text 11"/>
          <p:cNvSpPr/>
          <p:nvPr/>
        </p:nvSpPr>
        <p:spPr>
          <a:xfrm>
            <a:off x="365760" y="4169664"/>
            <a:ext cx="18288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E5E7E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Total Revenue</a:t>
            </a:r>
            <a:endParaRPr lang="en-US" sz="900" dirty="0"/>
          </a:p>
        </p:txBody>
      </p:sp>
      <p:sp>
        <p:nvSpPr>
          <p:cNvPr id="14" name="Shape 12"/>
          <p:cNvSpPr/>
          <p:nvPr/>
        </p:nvSpPr>
        <p:spPr>
          <a:xfrm>
            <a:off x="2468880" y="3794760"/>
            <a:ext cx="1828800" cy="685800"/>
          </a:xfrm>
          <a:prstGeom prst="rect">
            <a:avLst/>
          </a:prstGeom>
          <a:solidFill>
            <a:srgbClr val="1A4A7A"/>
          </a:solidFill>
          <a:ln w="12700">
            <a:solidFill>
              <a:srgbClr val="F5A623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2468880" y="3822192"/>
            <a:ext cx="18288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5A623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₹3,286 Cr</a:t>
            </a:r>
            <a:endParaRPr lang="en-US" sz="1400" dirty="0"/>
          </a:p>
        </p:txBody>
      </p:sp>
      <p:sp>
        <p:nvSpPr>
          <p:cNvPr id="16" name="Text 14"/>
          <p:cNvSpPr/>
          <p:nvPr/>
        </p:nvSpPr>
        <p:spPr>
          <a:xfrm>
            <a:off x="2468880" y="4169664"/>
            <a:ext cx="18288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E5E7E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Total Profit</a:t>
            </a:r>
            <a:endParaRPr lang="en-US" sz="900" dirty="0"/>
          </a:p>
        </p:txBody>
      </p:sp>
      <p:sp>
        <p:nvSpPr>
          <p:cNvPr id="17" name="Shape 15"/>
          <p:cNvSpPr/>
          <p:nvPr/>
        </p:nvSpPr>
        <p:spPr>
          <a:xfrm>
            <a:off x="4572000" y="3794760"/>
            <a:ext cx="1828800" cy="685800"/>
          </a:xfrm>
          <a:prstGeom prst="rect">
            <a:avLst/>
          </a:prstGeom>
          <a:solidFill>
            <a:srgbClr val="1A4A7A"/>
          </a:solidFill>
          <a:ln w="12700">
            <a:solidFill>
              <a:srgbClr val="F5A623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4572000" y="3822192"/>
            <a:ext cx="18288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5A623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50,53,988</a:t>
            </a:r>
            <a:endParaRPr lang="en-US" sz="1400" dirty="0"/>
          </a:p>
        </p:txBody>
      </p:sp>
      <p:sp>
        <p:nvSpPr>
          <p:cNvPr id="19" name="Text 17"/>
          <p:cNvSpPr/>
          <p:nvPr/>
        </p:nvSpPr>
        <p:spPr>
          <a:xfrm>
            <a:off x="4572000" y="4169664"/>
            <a:ext cx="18288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E5E7E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Units Sold</a:t>
            </a:r>
            <a:endParaRPr lang="en-US" sz="900" dirty="0"/>
          </a:p>
        </p:txBody>
      </p:sp>
      <p:sp>
        <p:nvSpPr>
          <p:cNvPr id="20" name="Shape 18"/>
          <p:cNvSpPr/>
          <p:nvPr/>
        </p:nvSpPr>
        <p:spPr>
          <a:xfrm>
            <a:off x="6675120" y="3794760"/>
            <a:ext cx="1828800" cy="685800"/>
          </a:xfrm>
          <a:prstGeom prst="rect">
            <a:avLst/>
          </a:prstGeom>
          <a:solidFill>
            <a:srgbClr val="1A4A7A"/>
          </a:solidFill>
          <a:ln w="12700">
            <a:solidFill>
              <a:srgbClr val="F5A623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6675120" y="3822192"/>
            <a:ext cx="18288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5A623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8</a:t>
            </a:r>
            <a:endParaRPr lang="en-US" sz="1400" dirty="0"/>
          </a:p>
        </p:txBody>
      </p:sp>
      <p:sp>
        <p:nvSpPr>
          <p:cNvPr id="22" name="Text 20"/>
          <p:cNvSpPr/>
          <p:nvPr/>
        </p:nvSpPr>
        <p:spPr>
          <a:xfrm>
            <a:off x="6675120" y="4169664"/>
            <a:ext cx="18288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E5E7E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Regions</a:t>
            </a:r>
            <a:endParaRPr lang="en-US" sz="900" dirty="0"/>
          </a:p>
        </p:txBody>
      </p:sp>
      <p:sp>
        <p:nvSpPr>
          <p:cNvPr id="23" name="Text 21"/>
          <p:cNvSpPr/>
          <p:nvPr/>
        </p:nvSpPr>
        <p:spPr>
          <a:xfrm>
            <a:off x="365760" y="4736592"/>
            <a:ext cx="84124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9CA3A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Confidential  |  Internal Use Only</a:t>
            </a:r>
            <a:endParaRPr lang="en-US" sz="9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8F9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85800"/>
          </a:xfrm>
          <a:prstGeom prst="rect">
            <a:avLst/>
          </a:prstGeom>
          <a:solidFill>
            <a:srgbClr val="0D1B2A"/>
          </a:solidFill>
          <a:ln/>
        </p:spPr>
      </p:sp>
      <p:sp>
        <p:nvSpPr>
          <p:cNvPr id="3" name="Text 1"/>
          <p:cNvSpPr/>
          <p:nvPr/>
        </p:nvSpPr>
        <p:spPr>
          <a:xfrm>
            <a:off x="365760" y="91440"/>
            <a:ext cx="82296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spc="300" kern="0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KEY PERFORMANCE METRICS</a:t>
            </a:r>
            <a:endParaRPr lang="en-US" sz="2000" dirty="0"/>
          </a:p>
        </p:txBody>
      </p:sp>
      <p:sp>
        <p:nvSpPr>
          <p:cNvPr id="4" name="Shape 2"/>
          <p:cNvSpPr/>
          <p:nvPr/>
        </p:nvSpPr>
        <p:spPr>
          <a:xfrm>
            <a:off x="274320" y="914400"/>
            <a:ext cx="2743200" cy="164592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101600" dist="25400" dir="8100000">
              <a:srgbClr val="000000">
                <a:alpha val="12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274320" y="914400"/>
            <a:ext cx="91440" cy="1645920"/>
          </a:xfrm>
          <a:prstGeom prst="rect">
            <a:avLst/>
          </a:prstGeom>
          <a:solidFill>
            <a:srgbClr val="0D1B2A"/>
          </a:solidFill>
          <a:ln/>
        </p:spPr>
      </p:sp>
      <p:sp>
        <p:nvSpPr>
          <p:cNvPr id="6" name="Text 4"/>
          <p:cNvSpPr/>
          <p:nvPr/>
        </p:nvSpPr>
        <p:spPr>
          <a:xfrm>
            <a:off x="411480" y="1005840"/>
            <a:ext cx="6400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dirty="0">
                <a:solidFill>
                  <a:srgbClr val="000000"/>
                </a:solidFill>
              </a:rPr>
              <a:t>💰</a:t>
            </a:r>
            <a:endParaRPr lang="en-US" sz="2200" dirty="0"/>
          </a:p>
        </p:txBody>
      </p:sp>
      <p:sp>
        <p:nvSpPr>
          <p:cNvPr id="7" name="Text 5"/>
          <p:cNvSpPr/>
          <p:nvPr/>
        </p:nvSpPr>
        <p:spPr>
          <a:xfrm>
            <a:off x="457200" y="1600200"/>
            <a:ext cx="24688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9CA3A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Total Revenue</a:t>
            </a:r>
            <a:endParaRPr lang="en-US" sz="1100" dirty="0"/>
          </a:p>
        </p:txBody>
      </p:sp>
      <p:sp>
        <p:nvSpPr>
          <p:cNvPr id="8" name="Text 6"/>
          <p:cNvSpPr/>
          <p:nvPr/>
        </p:nvSpPr>
        <p:spPr>
          <a:xfrm>
            <a:off x="457200" y="1874520"/>
            <a:ext cx="24688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0D1B2A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₹11,150 Cr</a:t>
            </a:r>
            <a:endParaRPr lang="en-US" sz="1800" dirty="0"/>
          </a:p>
        </p:txBody>
      </p:sp>
      <p:sp>
        <p:nvSpPr>
          <p:cNvPr id="9" name="Text 7"/>
          <p:cNvSpPr/>
          <p:nvPr/>
        </p:nvSpPr>
        <p:spPr>
          <a:xfrm>
            <a:off x="457200" y="2258568"/>
            <a:ext cx="24688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i="1" dirty="0">
                <a:solidFill>
                  <a:srgbClr val="9CA3A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2010–2017</a:t>
            </a:r>
            <a:endParaRPr lang="en-US" sz="900" dirty="0"/>
          </a:p>
        </p:txBody>
      </p:sp>
      <p:sp>
        <p:nvSpPr>
          <p:cNvPr id="10" name="Shape 8"/>
          <p:cNvSpPr/>
          <p:nvPr/>
        </p:nvSpPr>
        <p:spPr>
          <a:xfrm>
            <a:off x="3200400" y="914400"/>
            <a:ext cx="2743200" cy="164592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101600" dist="25400" dir="8100000">
              <a:srgbClr val="000000">
                <a:alpha val="12000"/>
              </a:srgbClr>
            </a:outerShdw>
          </a:effectLst>
        </p:spPr>
      </p:sp>
      <p:sp>
        <p:nvSpPr>
          <p:cNvPr id="11" name="Shape 9"/>
          <p:cNvSpPr/>
          <p:nvPr/>
        </p:nvSpPr>
        <p:spPr>
          <a:xfrm>
            <a:off x="3200400" y="914400"/>
            <a:ext cx="91440" cy="1645920"/>
          </a:xfrm>
          <a:prstGeom prst="rect">
            <a:avLst/>
          </a:prstGeom>
          <a:solidFill>
            <a:srgbClr val="0D9488"/>
          </a:solidFill>
          <a:ln/>
        </p:spPr>
      </p:sp>
      <p:sp>
        <p:nvSpPr>
          <p:cNvPr id="12" name="Text 10"/>
          <p:cNvSpPr/>
          <p:nvPr/>
        </p:nvSpPr>
        <p:spPr>
          <a:xfrm>
            <a:off x="3337560" y="1005840"/>
            <a:ext cx="6400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dirty="0">
                <a:solidFill>
                  <a:srgbClr val="000000"/>
                </a:solidFill>
              </a:rPr>
              <a:t>📈</a:t>
            </a:r>
            <a:endParaRPr lang="en-US" sz="2200" dirty="0"/>
          </a:p>
        </p:txBody>
      </p:sp>
      <p:sp>
        <p:nvSpPr>
          <p:cNvPr id="13" name="Text 11"/>
          <p:cNvSpPr/>
          <p:nvPr/>
        </p:nvSpPr>
        <p:spPr>
          <a:xfrm>
            <a:off x="3383280" y="1600200"/>
            <a:ext cx="24688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9CA3A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Total Profit</a:t>
            </a:r>
            <a:endParaRPr lang="en-US" sz="1100" dirty="0"/>
          </a:p>
        </p:txBody>
      </p:sp>
      <p:sp>
        <p:nvSpPr>
          <p:cNvPr id="14" name="Text 12"/>
          <p:cNvSpPr/>
          <p:nvPr/>
        </p:nvSpPr>
        <p:spPr>
          <a:xfrm>
            <a:off x="3383280" y="1874520"/>
            <a:ext cx="24688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0D9488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₹3,286 Cr</a:t>
            </a:r>
            <a:endParaRPr lang="en-US" sz="1800" dirty="0"/>
          </a:p>
        </p:txBody>
      </p:sp>
      <p:sp>
        <p:nvSpPr>
          <p:cNvPr id="15" name="Text 13"/>
          <p:cNvSpPr/>
          <p:nvPr/>
        </p:nvSpPr>
        <p:spPr>
          <a:xfrm>
            <a:off x="3383280" y="2258568"/>
            <a:ext cx="24688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i="1" dirty="0">
                <a:solidFill>
                  <a:srgbClr val="9CA3A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29.5% Profit Margin</a:t>
            </a:r>
            <a:endParaRPr lang="en-US" sz="900" dirty="0"/>
          </a:p>
        </p:txBody>
      </p:sp>
      <p:sp>
        <p:nvSpPr>
          <p:cNvPr id="16" name="Shape 14"/>
          <p:cNvSpPr/>
          <p:nvPr/>
        </p:nvSpPr>
        <p:spPr>
          <a:xfrm>
            <a:off x="6126480" y="914400"/>
            <a:ext cx="2743200" cy="164592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101600" dist="25400" dir="8100000">
              <a:srgbClr val="000000">
                <a:alpha val="12000"/>
              </a:srgbClr>
            </a:outerShdw>
          </a:effectLst>
        </p:spPr>
      </p:sp>
      <p:sp>
        <p:nvSpPr>
          <p:cNvPr id="17" name="Shape 15"/>
          <p:cNvSpPr/>
          <p:nvPr/>
        </p:nvSpPr>
        <p:spPr>
          <a:xfrm>
            <a:off x="6126480" y="914400"/>
            <a:ext cx="91440" cy="1645920"/>
          </a:xfrm>
          <a:prstGeom prst="rect">
            <a:avLst/>
          </a:prstGeom>
          <a:solidFill>
            <a:srgbClr val="1A4A7A"/>
          </a:solidFill>
          <a:ln/>
        </p:spPr>
      </p:sp>
      <p:sp>
        <p:nvSpPr>
          <p:cNvPr id="18" name="Text 16"/>
          <p:cNvSpPr/>
          <p:nvPr/>
        </p:nvSpPr>
        <p:spPr>
          <a:xfrm>
            <a:off x="6263640" y="1005840"/>
            <a:ext cx="6400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dirty="0">
                <a:solidFill>
                  <a:srgbClr val="000000"/>
                </a:solidFill>
              </a:rPr>
              <a:t>🏭</a:t>
            </a:r>
            <a:endParaRPr lang="en-US" sz="2200" dirty="0"/>
          </a:p>
        </p:txBody>
      </p:sp>
      <p:sp>
        <p:nvSpPr>
          <p:cNvPr id="19" name="Text 17"/>
          <p:cNvSpPr/>
          <p:nvPr/>
        </p:nvSpPr>
        <p:spPr>
          <a:xfrm>
            <a:off x="6309360" y="1600200"/>
            <a:ext cx="24688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9CA3A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Total Cost</a:t>
            </a:r>
            <a:endParaRPr lang="en-US" sz="1100" dirty="0"/>
          </a:p>
        </p:txBody>
      </p:sp>
      <p:sp>
        <p:nvSpPr>
          <p:cNvPr id="20" name="Text 18"/>
          <p:cNvSpPr/>
          <p:nvPr/>
        </p:nvSpPr>
        <p:spPr>
          <a:xfrm>
            <a:off x="6309360" y="1874520"/>
            <a:ext cx="24688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1A4A7A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₹7,863 Cr</a:t>
            </a:r>
            <a:endParaRPr lang="en-US" sz="1800" dirty="0"/>
          </a:p>
        </p:txBody>
      </p:sp>
      <p:sp>
        <p:nvSpPr>
          <p:cNvPr id="21" name="Text 19"/>
          <p:cNvSpPr/>
          <p:nvPr/>
        </p:nvSpPr>
        <p:spPr>
          <a:xfrm>
            <a:off x="6309360" y="2258568"/>
            <a:ext cx="24688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i="1" dirty="0">
                <a:solidFill>
                  <a:srgbClr val="9CA3A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Cost of Goods</a:t>
            </a:r>
            <a:endParaRPr lang="en-US" sz="900" dirty="0"/>
          </a:p>
        </p:txBody>
      </p:sp>
      <p:sp>
        <p:nvSpPr>
          <p:cNvPr id="22" name="Shape 20"/>
          <p:cNvSpPr/>
          <p:nvPr/>
        </p:nvSpPr>
        <p:spPr>
          <a:xfrm>
            <a:off x="274320" y="2834640"/>
            <a:ext cx="2743200" cy="164592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101600" dist="25400" dir="8100000">
              <a:srgbClr val="000000">
                <a:alpha val="12000"/>
              </a:srgbClr>
            </a:outerShdw>
          </a:effectLst>
        </p:spPr>
      </p:sp>
      <p:sp>
        <p:nvSpPr>
          <p:cNvPr id="23" name="Shape 21"/>
          <p:cNvSpPr/>
          <p:nvPr/>
        </p:nvSpPr>
        <p:spPr>
          <a:xfrm>
            <a:off x="274320" y="2834640"/>
            <a:ext cx="91440" cy="1645920"/>
          </a:xfrm>
          <a:prstGeom prst="rect">
            <a:avLst/>
          </a:prstGeom>
          <a:solidFill>
            <a:srgbClr val="E8961A"/>
          </a:solidFill>
          <a:ln/>
        </p:spPr>
      </p:sp>
      <p:sp>
        <p:nvSpPr>
          <p:cNvPr id="24" name="Text 22"/>
          <p:cNvSpPr/>
          <p:nvPr/>
        </p:nvSpPr>
        <p:spPr>
          <a:xfrm>
            <a:off x="411480" y="2926080"/>
            <a:ext cx="6400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dirty="0">
                <a:solidFill>
                  <a:srgbClr val="000000"/>
                </a:solidFill>
              </a:rPr>
              <a:t>📦</a:t>
            </a:r>
            <a:endParaRPr lang="en-US" sz="2200" dirty="0"/>
          </a:p>
        </p:txBody>
      </p:sp>
      <p:sp>
        <p:nvSpPr>
          <p:cNvPr id="25" name="Text 23"/>
          <p:cNvSpPr/>
          <p:nvPr/>
        </p:nvSpPr>
        <p:spPr>
          <a:xfrm>
            <a:off x="457200" y="3520440"/>
            <a:ext cx="24688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9CA3A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Units Sold</a:t>
            </a:r>
            <a:endParaRPr lang="en-US" sz="1100" dirty="0"/>
          </a:p>
        </p:txBody>
      </p:sp>
      <p:sp>
        <p:nvSpPr>
          <p:cNvPr id="26" name="Text 24"/>
          <p:cNvSpPr/>
          <p:nvPr/>
        </p:nvSpPr>
        <p:spPr>
          <a:xfrm>
            <a:off x="457200" y="3794760"/>
            <a:ext cx="24688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E8961A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50,53,988</a:t>
            </a:r>
            <a:endParaRPr lang="en-US" sz="1800" dirty="0"/>
          </a:p>
        </p:txBody>
      </p:sp>
      <p:sp>
        <p:nvSpPr>
          <p:cNvPr id="27" name="Text 25"/>
          <p:cNvSpPr/>
          <p:nvPr/>
        </p:nvSpPr>
        <p:spPr>
          <a:xfrm>
            <a:off x="457200" y="4178808"/>
            <a:ext cx="24688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i="1" dirty="0">
                <a:solidFill>
                  <a:srgbClr val="9CA3A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Total Units</a:t>
            </a:r>
            <a:endParaRPr lang="en-US" sz="900" dirty="0"/>
          </a:p>
        </p:txBody>
      </p:sp>
      <p:sp>
        <p:nvSpPr>
          <p:cNvPr id="28" name="Shape 26"/>
          <p:cNvSpPr/>
          <p:nvPr/>
        </p:nvSpPr>
        <p:spPr>
          <a:xfrm>
            <a:off x="3200400" y="2834640"/>
            <a:ext cx="2743200" cy="164592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101600" dist="25400" dir="8100000">
              <a:srgbClr val="000000">
                <a:alpha val="12000"/>
              </a:srgbClr>
            </a:outerShdw>
          </a:effectLst>
        </p:spPr>
      </p:sp>
      <p:sp>
        <p:nvSpPr>
          <p:cNvPr id="29" name="Shape 27"/>
          <p:cNvSpPr/>
          <p:nvPr/>
        </p:nvSpPr>
        <p:spPr>
          <a:xfrm>
            <a:off x="3200400" y="2834640"/>
            <a:ext cx="91440" cy="1645920"/>
          </a:xfrm>
          <a:prstGeom prst="rect">
            <a:avLst/>
          </a:prstGeom>
          <a:solidFill>
            <a:srgbClr val="16A34A"/>
          </a:solidFill>
          <a:ln/>
        </p:spPr>
      </p:sp>
      <p:sp>
        <p:nvSpPr>
          <p:cNvPr id="30" name="Text 28"/>
          <p:cNvSpPr/>
          <p:nvPr/>
        </p:nvSpPr>
        <p:spPr>
          <a:xfrm>
            <a:off x="3337560" y="2926080"/>
            <a:ext cx="6400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dirty="0">
                <a:solidFill>
                  <a:srgbClr val="000000"/>
                </a:solidFill>
              </a:rPr>
              <a:t>🛒</a:t>
            </a:r>
            <a:endParaRPr lang="en-US" sz="2200" dirty="0"/>
          </a:p>
        </p:txBody>
      </p:sp>
      <p:sp>
        <p:nvSpPr>
          <p:cNvPr id="31" name="Text 29"/>
          <p:cNvSpPr/>
          <p:nvPr/>
        </p:nvSpPr>
        <p:spPr>
          <a:xfrm>
            <a:off x="3383280" y="3520440"/>
            <a:ext cx="24688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9CA3A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Total Orders</a:t>
            </a:r>
            <a:endParaRPr lang="en-US" sz="1100" dirty="0"/>
          </a:p>
        </p:txBody>
      </p:sp>
      <p:sp>
        <p:nvSpPr>
          <p:cNvPr id="32" name="Text 30"/>
          <p:cNvSpPr/>
          <p:nvPr/>
        </p:nvSpPr>
        <p:spPr>
          <a:xfrm>
            <a:off x="3383280" y="3794760"/>
            <a:ext cx="24688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16A34A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1,000</a:t>
            </a:r>
            <a:endParaRPr lang="en-US" sz="1800" dirty="0"/>
          </a:p>
        </p:txBody>
      </p:sp>
      <p:sp>
        <p:nvSpPr>
          <p:cNvPr id="33" name="Text 31"/>
          <p:cNvSpPr/>
          <p:nvPr/>
        </p:nvSpPr>
        <p:spPr>
          <a:xfrm>
            <a:off x="3383280" y="4178808"/>
            <a:ext cx="24688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i="1" dirty="0">
                <a:solidFill>
                  <a:srgbClr val="9CA3A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Transactions</a:t>
            </a:r>
            <a:endParaRPr lang="en-US" sz="900" dirty="0"/>
          </a:p>
        </p:txBody>
      </p:sp>
      <p:sp>
        <p:nvSpPr>
          <p:cNvPr id="34" name="Shape 32"/>
          <p:cNvSpPr/>
          <p:nvPr/>
        </p:nvSpPr>
        <p:spPr>
          <a:xfrm>
            <a:off x="6126480" y="2834640"/>
            <a:ext cx="2743200" cy="164592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101600" dist="25400" dir="8100000">
              <a:srgbClr val="000000">
                <a:alpha val="12000"/>
              </a:srgbClr>
            </a:outerShdw>
          </a:effectLst>
        </p:spPr>
      </p:sp>
      <p:sp>
        <p:nvSpPr>
          <p:cNvPr id="35" name="Shape 33"/>
          <p:cNvSpPr/>
          <p:nvPr/>
        </p:nvSpPr>
        <p:spPr>
          <a:xfrm>
            <a:off x="6126480" y="2834640"/>
            <a:ext cx="91440" cy="1645920"/>
          </a:xfrm>
          <a:prstGeom prst="rect">
            <a:avLst/>
          </a:prstGeom>
          <a:solidFill>
            <a:srgbClr val="8B2252"/>
          </a:solidFill>
          <a:ln/>
        </p:spPr>
      </p:sp>
      <p:sp>
        <p:nvSpPr>
          <p:cNvPr id="36" name="Text 34"/>
          <p:cNvSpPr/>
          <p:nvPr/>
        </p:nvSpPr>
        <p:spPr>
          <a:xfrm>
            <a:off x="6263640" y="2926080"/>
            <a:ext cx="6400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dirty="0">
                <a:solidFill>
                  <a:srgbClr val="000000"/>
                </a:solidFill>
              </a:rPr>
              <a:t>🏷️</a:t>
            </a:r>
            <a:endParaRPr lang="en-US" sz="2200" dirty="0"/>
          </a:p>
        </p:txBody>
      </p:sp>
      <p:sp>
        <p:nvSpPr>
          <p:cNvPr id="37" name="Text 35"/>
          <p:cNvSpPr/>
          <p:nvPr/>
        </p:nvSpPr>
        <p:spPr>
          <a:xfrm>
            <a:off x="6309360" y="3520440"/>
            <a:ext cx="24688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9CA3A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Avg Unit Cost</a:t>
            </a:r>
            <a:endParaRPr lang="en-US" sz="1100" dirty="0"/>
          </a:p>
        </p:txBody>
      </p:sp>
      <p:sp>
        <p:nvSpPr>
          <p:cNvPr id="38" name="Text 36"/>
          <p:cNvSpPr/>
          <p:nvPr/>
        </p:nvSpPr>
        <p:spPr>
          <a:xfrm>
            <a:off x="6309360" y="3794760"/>
            <a:ext cx="24688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8B2252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₹15,537</a:t>
            </a:r>
            <a:endParaRPr lang="en-US" sz="1800" dirty="0"/>
          </a:p>
        </p:txBody>
      </p:sp>
      <p:sp>
        <p:nvSpPr>
          <p:cNvPr id="39" name="Text 37"/>
          <p:cNvSpPr/>
          <p:nvPr/>
        </p:nvSpPr>
        <p:spPr>
          <a:xfrm>
            <a:off x="6309360" y="4178808"/>
            <a:ext cx="24688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i="1" dirty="0">
                <a:solidFill>
                  <a:srgbClr val="9CA3A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Average per unit</a:t>
            </a:r>
            <a:endParaRPr lang="en-US" sz="9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8F9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85800"/>
          </a:xfrm>
          <a:prstGeom prst="rect">
            <a:avLst/>
          </a:prstGeom>
          <a:solidFill>
            <a:srgbClr val="0D1B2A"/>
          </a:solidFill>
          <a:ln/>
        </p:spPr>
      </p:sp>
      <p:sp>
        <p:nvSpPr>
          <p:cNvPr id="3" name="Text 1"/>
          <p:cNvSpPr/>
          <p:nvPr/>
        </p:nvSpPr>
        <p:spPr>
          <a:xfrm>
            <a:off x="365760" y="91440"/>
            <a:ext cx="82296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spc="300" kern="0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REVENUE TREND — YEAR WISE</a:t>
            </a:r>
            <a:endParaRPr lang="en-US" sz="2000" dirty="0"/>
          </a:p>
        </p:txBody>
      </p:sp>
      <p:graphicFrame>
        <p:nvGraphicFramePr>
          <p:cNvPr id="4" name="Chart 0" descr=""/>
          <p:cNvGraphicFramePr/>
          <p:nvPr/>
        </p:nvGraphicFramePr>
        <p:xfrm>
          <a:off x="274320" y="822960"/>
          <a:ext cx="5303520" cy="402336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1"/>
          </a:graphicData>
        </a:graphic>
      </p:graphicFrame>
      <p:sp>
        <p:nvSpPr>
          <p:cNvPr id="5" name="Shape 2"/>
          <p:cNvSpPr/>
          <p:nvPr/>
        </p:nvSpPr>
        <p:spPr>
          <a:xfrm>
            <a:off x="5852160" y="822960"/>
            <a:ext cx="3017520" cy="402336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76200" dist="25400" dir="8100000">
              <a:srgbClr val="000000">
                <a:alpha val="10000"/>
              </a:srgbClr>
            </a:outerShdw>
          </a:effectLst>
        </p:spPr>
      </p:sp>
      <p:sp>
        <p:nvSpPr>
          <p:cNvPr id="6" name="Text 3"/>
          <p:cNvSpPr/>
          <p:nvPr/>
        </p:nvSpPr>
        <p:spPr>
          <a:xfrm>
            <a:off x="5852160" y="868680"/>
            <a:ext cx="30175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0D1B2A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YoY GROWTH</a:t>
            </a:r>
            <a:endParaRPr lang="en-US" sz="1200" dirty="0"/>
          </a:p>
        </p:txBody>
      </p:sp>
      <p:sp>
        <p:nvSpPr>
          <p:cNvPr id="7" name="Shape 4"/>
          <p:cNvSpPr/>
          <p:nvPr/>
        </p:nvSpPr>
        <p:spPr>
          <a:xfrm>
            <a:off x="5852160" y="1234440"/>
            <a:ext cx="3017520" cy="27432"/>
          </a:xfrm>
          <a:prstGeom prst="rect">
            <a:avLst/>
          </a:prstGeom>
          <a:solidFill>
            <a:srgbClr val="F5A623"/>
          </a:solidFill>
          <a:ln/>
        </p:spPr>
      </p:sp>
      <p:sp>
        <p:nvSpPr>
          <p:cNvPr id="8" name="Shape 5"/>
          <p:cNvSpPr/>
          <p:nvPr/>
        </p:nvSpPr>
        <p:spPr>
          <a:xfrm>
            <a:off x="5852160" y="1325880"/>
            <a:ext cx="3017520" cy="402336"/>
          </a:xfrm>
          <a:prstGeom prst="rect">
            <a:avLst/>
          </a:prstGeom>
          <a:solidFill>
            <a:srgbClr val="F8F9FA"/>
          </a:solidFill>
          <a:ln/>
        </p:spPr>
      </p:sp>
      <p:sp>
        <p:nvSpPr>
          <p:cNvPr id="9" name="Text 6"/>
          <p:cNvSpPr/>
          <p:nvPr/>
        </p:nvSpPr>
        <p:spPr>
          <a:xfrm>
            <a:off x="5943600" y="1399032"/>
            <a:ext cx="6400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0D1B2A"/>
                </a:solidFill>
              </a:rPr>
              <a:t>2010</a:t>
            </a:r>
            <a:endParaRPr lang="en-US" sz="1100" dirty="0"/>
          </a:p>
        </p:txBody>
      </p:sp>
      <p:sp>
        <p:nvSpPr>
          <p:cNvPr id="10" name="Text 7"/>
          <p:cNvSpPr/>
          <p:nvPr/>
        </p:nvSpPr>
        <p:spPr>
          <a:xfrm>
            <a:off x="6583680" y="1399032"/>
            <a:ext cx="11887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374151"/>
                </a:solidFill>
              </a:rPr>
              <a:t>₹1474 Cr</a:t>
            </a:r>
            <a:endParaRPr lang="en-US" sz="1000" dirty="0"/>
          </a:p>
        </p:txBody>
      </p:sp>
      <p:sp>
        <p:nvSpPr>
          <p:cNvPr id="11" name="Text 8"/>
          <p:cNvSpPr/>
          <p:nvPr/>
        </p:nvSpPr>
        <p:spPr>
          <a:xfrm>
            <a:off x="7818120" y="1399032"/>
            <a:ext cx="9601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9CA3AF"/>
                </a:solidFill>
              </a:rPr>
              <a:t>—</a:t>
            </a:r>
            <a:endParaRPr lang="en-US" sz="1100" dirty="0"/>
          </a:p>
        </p:txBody>
      </p:sp>
      <p:sp>
        <p:nvSpPr>
          <p:cNvPr id="12" name="Shape 9"/>
          <p:cNvSpPr/>
          <p:nvPr/>
        </p:nvSpPr>
        <p:spPr>
          <a:xfrm>
            <a:off x="5852160" y="1755648"/>
            <a:ext cx="3017520" cy="402336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13" name="Text 10"/>
          <p:cNvSpPr/>
          <p:nvPr/>
        </p:nvSpPr>
        <p:spPr>
          <a:xfrm>
            <a:off x="5943600" y="1828800"/>
            <a:ext cx="6400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0D1B2A"/>
                </a:solidFill>
              </a:rPr>
              <a:t>2011</a:t>
            </a:r>
            <a:endParaRPr lang="en-US" sz="1100" dirty="0"/>
          </a:p>
        </p:txBody>
      </p:sp>
      <p:sp>
        <p:nvSpPr>
          <p:cNvPr id="14" name="Text 11"/>
          <p:cNvSpPr/>
          <p:nvPr/>
        </p:nvSpPr>
        <p:spPr>
          <a:xfrm>
            <a:off x="6583680" y="1828800"/>
            <a:ext cx="11887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374151"/>
                </a:solidFill>
              </a:rPr>
              <a:t>₹1259 Cr</a:t>
            </a:r>
            <a:endParaRPr lang="en-US" sz="1000" dirty="0"/>
          </a:p>
        </p:txBody>
      </p:sp>
      <p:sp>
        <p:nvSpPr>
          <p:cNvPr id="15" name="Text 12"/>
          <p:cNvSpPr/>
          <p:nvPr/>
        </p:nvSpPr>
        <p:spPr>
          <a:xfrm>
            <a:off x="7818120" y="1828800"/>
            <a:ext cx="9601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b="1" dirty="0">
                <a:solidFill>
                  <a:srgbClr val="DC2626"/>
                </a:solidFill>
              </a:rPr>
              <a:t>▼ 14.6%</a:t>
            </a:r>
            <a:endParaRPr lang="en-US" sz="1100" dirty="0"/>
          </a:p>
        </p:txBody>
      </p:sp>
      <p:sp>
        <p:nvSpPr>
          <p:cNvPr id="16" name="Shape 13"/>
          <p:cNvSpPr/>
          <p:nvPr/>
        </p:nvSpPr>
        <p:spPr>
          <a:xfrm>
            <a:off x="5852160" y="2185416"/>
            <a:ext cx="3017520" cy="402336"/>
          </a:xfrm>
          <a:prstGeom prst="rect">
            <a:avLst/>
          </a:prstGeom>
          <a:solidFill>
            <a:srgbClr val="F8F9FA"/>
          </a:solidFill>
          <a:ln/>
        </p:spPr>
      </p:sp>
      <p:sp>
        <p:nvSpPr>
          <p:cNvPr id="17" name="Text 14"/>
          <p:cNvSpPr/>
          <p:nvPr/>
        </p:nvSpPr>
        <p:spPr>
          <a:xfrm>
            <a:off x="5943600" y="2258568"/>
            <a:ext cx="6400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0D1B2A"/>
                </a:solidFill>
              </a:rPr>
              <a:t>2012</a:t>
            </a:r>
            <a:endParaRPr lang="en-US" sz="1100" dirty="0"/>
          </a:p>
        </p:txBody>
      </p:sp>
      <p:sp>
        <p:nvSpPr>
          <p:cNvPr id="18" name="Text 15"/>
          <p:cNvSpPr/>
          <p:nvPr/>
        </p:nvSpPr>
        <p:spPr>
          <a:xfrm>
            <a:off x="6583680" y="2258568"/>
            <a:ext cx="11887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374151"/>
                </a:solidFill>
              </a:rPr>
              <a:t>₹1482 Cr</a:t>
            </a:r>
            <a:endParaRPr lang="en-US" sz="1000" dirty="0"/>
          </a:p>
        </p:txBody>
      </p:sp>
      <p:sp>
        <p:nvSpPr>
          <p:cNvPr id="19" name="Text 16"/>
          <p:cNvSpPr/>
          <p:nvPr/>
        </p:nvSpPr>
        <p:spPr>
          <a:xfrm>
            <a:off x="7818120" y="2258568"/>
            <a:ext cx="9601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b="1" dirty="0">
                <a:solidFill>
                  <a:srgbClr val="16A34A"/>
                </a:solidFill>
              </a:rPr>
              <a:t>▲ 17.7%</a:t>
            </a:r>
            <a:endParaRPr lang="en-US" sz="1100" dirty="0"/>
          </a:p>
        </p:txBody>
      </p:sp>
      <p:sp>
        <p:nvSpPr>
          <p:cNvPr id="20" name="Shape 17"/>
          <p:cNvSpPr/>
          <p:nvPr/>
        </p:nvSpPr>
        <p:spPr>
          <a:xfrm>
            <a:off x="5852160" y="2615184"/>
            <a:ext cx="3017520" cy="402336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21" name="Text 18"/>
          <p:cNvSpPr/>
          <p:nvPr/>
        </p:nvSpPr>
        <p:spPr>
          <a:xfrm>
            <a:off x="5943600" y="2688336"/>
            <a:ext cx="6400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0D1B2A"/>
                </a:solidFill>
              </a:rPr>
              <a:t>2013</a:t>
            </a:r>
            <a:endParaRPr lang="en-US" sz="1100" dirty="0"/>
          </a:p>
        </p:txBody>
      </p:sp>
      <p:sp>
        <p:nvSpPr>
          <p:cNvPr id="22" name="Text 19"/>
          <p:cNvSpPr/>
          <p:nvPr/>
        </p:nvSpPr>
        <p:spPr>
          <a:xfrm>
            <a:off x="6583680" y="2688336"/>
            <a:ext cx="11887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374151"/>
                </a:solidFill>
              </a:rPr>
              <a:t>₹1594 Cr</a:t>
            </a:r>
            <a:endParaRPr lang="en-US" sz="1000" dirty="0"/>
          </a:p>
        </p:txBody>
      </p:sp>
      <p:sp>
        <p:nvSpPr>
          <p:cNvPr id="23" name="Text 20"/>
          <p:cNvSpPr/>
          <p:nvPr/>
        </p:nvSpPr>
        <p:spPr>
          <a:xfrm>
            <a:off x="7818120" y="2688336"/>
            <a:ext cx="9601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b="1" dirty="0">
                <a:solidFill>
                  <a:srgbClr val="16A34A"/>
                </a:solidFill>
              </a:rPr>
              <a:t>▲ 7.6%</a:t>
            </a:r>
            <a:endParaRPr lang="en-US" sz="1100" dirty="0"/>
          </a:p>
        </p:txBody>
      </p:sp>
      <p:sp>
        <p:nvSpPr>
          <p:cNvPr id="24" name="Shape 21"/>
          <p:cNvSpPr/>
          <p:nvPr/>
        </p:nvSpPr>
        <p:spPr>
          <a:xfrm>
            <a:off x="5852160" y="3044952"/>
            <a:ext cx="3017520" cy="402336"/>
          </a:xfrm>
          <a:prstGeom prst="rect">
            <a:avLst/>
          </a:prstGeom>
          <a:solidFill>
            <a:srgbClr val="F8F9FA"/>
          </a:solidFill>
          <a:ln/>
        </p:spPr>
      </p:sp>
      <p:sp>
        <p:nvSpPr>
          <p:cNvPr id="25" name="Text 22"/>
          <p:cNvSpPr/>
          <p:nvPr/>
        </p:nvSpPr>
        <p:spPr>
          <a:xfrm>
            <a:off x="5943600" y="3118104"/>
            <a:ext cx="6400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0D1B2A"/>
                </a:solidFill>
              </a:rPr>
              <a:t>2014</a:t>
            </a:r>
            <a:endParaRPr lang="en-US" sz="1100" dirty="0"/>
          </a:p>
        </p:txBody>
      </p:sp>
      <p:sp>
        <p:nvSpPr>
          <p:cNvPr id="26" name="Text 23"/>
          <p:cNvSpPr/>
          <p:nvPr/>
        </p:nvSpPr>
        <p:spPr>
          <a:xfrm>
            <a:off x="6583680" y="3118104"/>
            <a:ext cx="11887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374151"/>
                </a:solidFill>
              </a:rPr>
              <a:t>₹1639 Cr</a:t>
            </a:r>
            <a:endParaRPr lang="en-US" sz="1000" dirty="0"/>
          </a:p>
        </p:txBody>
      </p:sp>
      <p:sp>
        <p:nvSpPr>
          <p:cNvPr id="27" name="Text 24"/>
          <p:cNvSpPr/>
          <p:nvPr/>
        </p:nvSpPr>
        <p:spPr>
          <a:xfrm>
            <a:off x="7818120" y="3118104"/>
            <a:ext cx="9601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b="1" dirty="0">
                <a:solidFill>
                  <a:srgbClr val="16A34A"/>
                </a:solidFill>
              </a:rPr>
              <a:t>▲ 2.8%</a:t>
            </a:r>
            <a:endParaRPr lang="en-US" sz="1100" dirty="0"/>
          </a:p>
        </p:txBody>
      </p:sp>
      <p:sp>
        <p:nvSpPr>
          <p:cNvPr id="28" name="Shape 25"/>
          <p:cNvSpPr/>
          <p:nvPr/>
        </p:nvSpPr>
        <p:spPr>
          <a:xfrm>
            <a:off x="5852160" y="3474720"/>
            <a:ext cx="3017520" cy="402336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29" name="Text 26"/>
          <p:cNvSpPr/>
          <p:nvPr/>
        </p:nvSpPr>
        <p:spPr>
          <a:xfrm>
            <a:off x="5943600" y="3547872"/>
            <a:ext cx="6400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0D1B2A"/>
                </a:solidFill>
              </a:rPr>
              <a:t>2015</a:t>
            </a:r>
            <a:endParaRPr lang="en-US" sz="1100" dirty="0"/>
          </a:p>
        </p:txBody>
      </p:sp>
      <p:sp>
        <p:nvSpPr>
          <p:cNvPr id="30" name="Text 27"/>
          <p:cNvSpPr/>
          <p:nvPr/>
        </p:nvSpPr>
        <p:spPr>
          <a:xfrm>
            <a:off x="6583680" y="3547872"/>
            <a:ext cx="11887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374151"/>
                </a:solidFill>
              </a:rPr>
              <a:t>₹1516 Cr</a:t>
            </a:r>
            <a:endParaRPr lang="en-US" sz="1000" dirty="0"/>
          </a:p>
        </p:txBody>
      </p:sp>
      <p:sp>
        <p:nvSpPr>
          <p:cNvPr id="31" name="Text 28"/>
          <p:cNvSpPr/>
          <p:nvPr/>
        </p:nvSpPr>
        <p:spPr>
          <a:xfrm>
            <a:off x="7818120" y="3547872"/>
            <a:ext cx="9601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b="1" dirty="0">
                <a:solidFill>
                  <a:srgbClr val="DC2626"/>
                </a:solidFill>
              </a:rPr>
              <a:t>▼ 7.5%</a:t>
            </a:r>
            <a:endParaRPr lang="en-US" sz="1100" dirty="0"/>
          </a:p>
        </p:txBody>
      </p:sp>
      <p:sp>
        <p:nvSpPr>
          <p:cNvPr id="32" name="Shape 29"/>
          <p:cNvSpPr/>
          <p:nvPr/>
        </p:nvSpPr>
        <p:spPr>
          <a:xfrm>
            <a:off x="5852160" y="3904488"/>
            <a:ext cx="3017520" cy="402336"/>
          </a:xfrm>
          <a:prstGeom prst="rect">
            <a:avLst/>
          </a:prstGeom>
          <a:solidFill>
            <a:srgbClr val="F8F9FA"/>
          </a:solidFill>
          <a:ln/>
        </p:spPr>
      </p:sp>
      <p:sp>
        <p:nvSpPr>
          <p:cNvPr id="33" name="Text 30"/>
          <p:cNvSpPr/>
          <p:nvPr/>
        </p:nvSpPr>
        <p:spPr>
          <a:xfrm>
            <a:off x="5943600" y="3977640"/>
            <a:ext cx="6400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0D1B2A"/>
                </a:solidFill>
              </a:rPr>
              <a:t>2016</a:t>
            </a:r>
            <a:endParaRPr lang="en-US" sz="1100" dirty="0"/>
          </a:p>
        </p:txBody>
      </p:sp>
      <p:sp>
        <p:nvSpPr>
          <p:cNvPr id="34" name="Text 31"/>
          <p:cNvSpPr/>
          <p:nvPr/>
        </p:nvSpPr>
        <p:spPr>
          <a:xfrm>
            <a:off x="6583680" y="3977640"/>
            <a:ext cx="11887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374151"/>
                </a:solidFill>
              </a:rPr>
              <a:t>₹1379 Cr</a:t>
            </a:r>
            <a:endParaRPr lang="en-US" sz="1000" dirty="0"/>
          </a:p>
        </p:txBody>
      </p:sp>
      <p:sp>
        <p:nvSpPr>
          <p:cNvPr id="35" name="Text 32"/>
          <p:cNvSpPr/>
          <p:nvPr/>
        </p:nvSpPr>
        <p:spPr>
          <a:xfrm>
            <a:off x="7818120" y="3977640"/>
            <a:ext cx="9601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b="1" dirty="0">
                <a:solidFill>
                  <a:srgbClr val="DC2626"/>
                </a:solidFill>
              </a:rPr>
              <a:t>▼ 9.1%</a:t>
            </a:r>
            <a:endParaRPr lang="en-US" sz="1100" dirty="0"/>
          </a:p>
        </p:txBody>
      </p:sp>
      <p:sp>
        <p:nvSpPr>
          <p:cNvPr id="36" name="Shape 33"/>
          <p:cNvSpPr/>
          <p:nvPr/>
        </p:nvSpPr>
        <p:spPr>
          <a:xfrm>
            <a:off x="5852160" y="4334256"/>
            <a:ext cx="3017520" cy="402336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37" name="Text 34"/>
          <p:cNvSpPr/>
          <p:nvPr/>
        </p:nvSpPr>
        <p:spPr>
          <a:xfrm>
            <a:off x="5943600" y="4407408"/>
            <a:ext cx="6400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0D1B2A"/>
                </a:solidFill>
              </a:rPr>
              <a:t>2017</a:t>
            </a:r>
            <a:endParaRPr lang="en-US" sz="1100" dirty="0"/>
          </a:p>
        </p:txBody>
      </p:sp>
      <p:sp>
        <p:nvSpPr>
          <p:cNvPr id="38" name="Text 35"/>
          <p:cNvSpPr/>
          <p:nvPr/>
        </p:nvSpPr>
        <p:spPr>
          <a:xfrm>
            <a:off x="6583680" y="4407408"/>
            <a:ext cx="11887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374151"/>
                </a:solidFill>
              </a:rPr>
              <a:t>₹807 Cr</a:t>
            </a:r>
            <a:endParaRPr lang="en-US" sz="1000" dirty="0"/>
          </a:p>
        </p:txBody>
      </p:sp>
      <p:sp>
        <p:nvSpPr>
          <p:cNvPr id="39" name="Text 36"/>
          <p:cNvSpPr/>
          <p:nvPr/>
        </p:nvSpPr>
        <p:spPr>
          <a:xfrm>
            <a:off x="7818120" y="4407408"/>
            <a:ext cx="9601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b="1" dirty="0">
                <a:solidFill>
                  <a:srgbClr val="DC2626"/>
                </a:solidFill>
              </a:rPr>
              <a:t>▼ 41.5%</a:t>
            </a:r>
            <a:endParaRPr lang="en-US" sz="11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8F9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85800"/>
          </a:xfrm>
          <a:prstGeom prst="rect">
            <a:avLst/>
          </a:prstGeom>
          <a:solidFill>
            <a:srgbClr val="0D1B2A"/>
          </a:solidFill>
          <a:ln/>
        </p:spPr>
      </p:sp>
      <p:sp>
        <p:nvSpPr>
          <p:cNvPr id="3" name="Text 1"/>
          <p:cNvSpPr/>
          <p:nvPr/>
        </p:nvSpPr>
        <p:spPr>
          <a:xfrm>
            <a:off x="365760" y="91440"/>
            <a:ext cx="82296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spc="300" kern="0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REVENUE BY REGION</a:t>
            </a:r>
            <a:endParaRPr lang="en-US" sz="2000" dirty="0"/>
          </a:p>
        </p:txBody>
      </p:sp>
      <p:graphicFrame>
        <p:nvGraphicFramePr>
          <p:cNvPr id="4" name="Chart 0" descr=""/>
          <p:cNvGraphicFramePr/>
          <p:nvPr/>
        </p:nvGraphicFramePr>
        <p:xfrm>
          <a:off x="182880" y="822960"/>
          <a:ext cx="4389120" cy="402336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1"/>
          </a:graphicData>
        </a:graphic>
      </p:graphicFrame>
      <p:graphicFrame>
        <p:nvGraphicFramePr>
          <p:cNvPr id="5" name="Chart 1" descr=""/>
          <p:cNvGraphicFramePr/>
          <p:nvPr/>
        </p:nvGraphicFramePr>
        <p:xfrm>
          <a:off x="4846320" y="822960"/>
          <a:ext cx="4114800" cy="402336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2"/>
          </a:graphicData>
        </a:graphic>
      </p:graphicFrame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8F9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85800"/>
          </a:xfrm>
          <a:prstGeom prst="rect">
            <a:avLst/>
          </a:prstGeom>
          <a:solidFill>
            <a:srgbClr val="0D1B2A"/>
          </a:solidFill>
          <a:ln/>
        </p:spPr>
      </p:sp>
      <p:sp>
        <p:nvSpPr>
          <p:cNvPr id="3" name="Text 1"/>
          <p:cNvSpPr/>
          <p:nvPr/>
        </p:nvSpPr>
        <p:spPr>
          <a:xfrm>
            <a:off x="365760" y="91440"/>
            <a:ext cx="82296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spc="200" kern="0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SALES CHANNEL  &amp;  ORDER PRIORITY ANALYSIS</a:t>
            </a:r>
            <a:endParaRPr lang="en-US" sz="1800" dirty="0"/>
          </a:p>
        </p:txBody>
      </p:sp>
      <p:sp>
        <p:nvSpPr>
          <p:cNvPr id="4" name="Shape 2"/>
          <p:cNvSpPr/>
          <p:nvPr/>
        </p:nvSpPr>
        <p:spPr>
          <a:xfrm>
            <a:off x="274320" y="822960"/>
            <a:ext cx="3931920" cy="402336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101600" dist="25400" dir="8100000">
              <a:srgbClr val="000000">
                <a:alpha val="10000"/>
              </a:srgbClr>
            </a:outerShdw>
          </a:effectLst>
        </p:spPr>
      </p:sp>
      <p:sp>
        <p:nvSpPr>
          <p:cNvPr id="5" name="Text 3"/>
          <p:cNvSpPr/>
          <p:nvPr/>
        </p:nvSpPr>
        <p:spPr>
          <a:xfrm>
            <a:off x="274320" y="868680"/>
            <a:ext cx="39319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0D1B2A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SALES CHANNEL</a:t>
            </a:r>
            <a:endParaRPr lang="en-US" sz="1300" dirty="0"/>
          </a:p>
        </p:txBody>
      </p:sp>
      <p:sp>
        <p:nvSpPr>
          <p:cNvPr id="6" name="Shape 4"/>
          <p:cNvSpPr/>
          <p:nvPr/>
        </p:nvSpPr>
        <p:spPr>
          <a:xfrm>
            <a:off x="274320" y="1234440"/>
            <a:ext cx="3931920" cy="36576"/>
          </a:xfrm>
          <a:prstGeom prst="rect">
            <a:avLst/>
          </a:prstGeom>
          <a:solidFill>
            <a:srgbClr val="F5A623"/>
          </a:solidFill>
          <a:ln/>
        </p:spPr>
      </p:sp>
      <p:graphicFrame>
        <p:nvGraphicFramePr>
          <p:cNvPr id="7" name="Chart 0" descr=""/>
          <p:cNvGraphicFramePr/>
          <p:nvPr/>
        </p:nvGraphicFramePr>
        <p:xfrm>
          <a:off x="365760" y="1325880"/>
          <a:ext cx="3657600" cy="320040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1"/>
          </a:graphicData>
        </a:graphic>
      </p:graphicFrame>
      <p:sp>
        <p:nvSpPr>
          <p:cNvPr id="8" name="Text 5"/>
          <p:cNvSpPr/>
          <p:nvPr/>
        </p:nvSpPr>
        <p:spPr>
          <a:xfrm>
            <a:off x="457200" y="4617720"/>
            <a:ext cx="35661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0D94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Online: ₹5279 Cr  (47.3%)</a:t>
            </a:r>
            <a:endParaRPr lang="en-US" sz="900" dirty="0"/>
          </a:p>
        </p:txBody>
      </p:sp>
      <p:sp>
        <p:nvSpPr>
          <p:cNvPr id="9" name="Shape 6"/>
          <p:cNvSpPr/>
          <p:nvPr/>
        </p:nvSpPr>
        <p:spPr>
          <a:xfrm>
            <a:off x="4754880" y="822960"/>
            <a:ext cx="4114800" cy="402336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101600" dist="25400" dir="8100000">
              <a:srgbClr val="000000">
                <a:alpha val="10000"/>
              </a:srgbClr>
            </a:outerShdw>
          </a:effectLst>
        </p:spPr>
      </p:sp>
      <p:sp>
        <p:nvSpPr>
          <p:cNvPr id="10" name="Text 7"/>
          <p:cNvSpPr/>
          <p:nvPr/>
        </p:nvSpPr>
        <p:spPr>
          <a:xfrm>
            <a:off x="4754880" y="868680"/>
            <a:ext cx="4114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0D1B2A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ORDER PRIORITY WISE PROFIT</a:t>
            </a:r>
            <a:endParaRPr lang="en-US" sz="1200" dirty="0"/>
          </a:p>
        </p:txBody>
      </p:sp>
      <p:sp>
        <p:nvSpPr>
          <p:cNvPr id="11" name="Shape 8"/>
          <p:cNvSpPr/>
          <p:nvPr/>
        </p:nvSpPr>
        <p:spPr>
          <a:xfrm>
            <a:off x="4754880" y="1234440"/>
            <a:ext cx="4114800" cy="36576"/>
          </a:xfrm>
          <a:prstGeom prst="rect">
            <a:avLst/>
          </a:prstGeom>
          <a:solidFill>
            <a:srgbClr val="F5A623"/>
          </a:solidFill>
          <a:ln/>
        </p:spPr>
      </p:sp>
      <p:sp>
        <p:nvSpPr>
          <p:cNvPr id="12" name="Shape 9"/>
          <p:cNvSpPr/>
          <p:nvPr/>
        </p:nvSpPr>
        <p:spPr>
          <a:xfrm>
            <a:off x="4846320" y="1371600"/>
            <a:ext cx="3931920" cy="713232"/>
          </a:xfrm>
          <a:prstGeom prst="rect">
            <a:avLst/>
          </a:prstGeom>
          <a:solidFill>
            <a:srgbClr val="F8F9FA"/>
          </a:solidFill>
          <a:ln/>
        </p:spPr>
      </p:sp>
      <p:sp>
        <p:nvSpPr>
          <p:cNvPr id="13" name="Shape 10"/>
          <p:cNvSpPr/>
          <p:nvPr/>
        </p:nvSpPr>
        <p:spPr>
          <a:xfrm>
            <a:off x="4846320" y="1389888"/>
            <a:ext cx="54864" cy="676656"/>
          </a:xfrm>
          <a:prstGeom prst="rect">
            <a:avLst/>
          </a:prstGeom>
          <a:solidFill>
            <a:srgbClr val="0D9488"/>
          </a:solidFill>
          <a:ln/>
        </p:spPr>
      </p:sp>
      <p:sp>
        <p:nvSpPr>
          <p:cNvPr id="14" name="Text 11"/>
          <p:cNvSpPr/>
          <p:nvPr/>
        </p:nvSpPr>
        <p:spPr>
          <a:xfrm>
            <a:off x="4983480" y="1426464"/>
            <a:ext cx="1371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0D1B2A"/>
                </a:solidFill>
              </a:rPr>
              <a:t>L - Low</a:t>
            </a:r>
            <a:endParaRPr lang="en-US" sz="1100" dirty="0"/>
          </a:p>
        </p:txBody>
      </p:sp>
      <p:sp>
        <p:nvSpPr>
          <p:cNvPr id="15" name="Text 12"/>
          <p:cNvSpPr/>
          <p:nvPr/>
        </p:nvSpPr>
        <p:spPr>
          <a:xfrm>
            <a:off x="4983480" y="1719072"/>
            <a:ext cx="13716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i="1" dirty="0">
                <a:solidFill>
                  <a:srgbClr val="9CA3AF"/>
                </a:solidFill>
              </a:rPr>
              <a:t>268 orders</a:t>
            </a:r>
            <a:endParaRPr lang="en-US" sz="900" dirty="0"/>
          </a:p>
        </p:txBody>
      </p:sp>
      <p:sp>
        <p:nvSpPr>
          <p:cNvPr id="16" name="Shape 13"/>
          <p:cNvSpPr/>
          <p:nvPr/>
        </p:nvSpPr>
        <p:spPr>
          <a:xfrm>
            <a:off x="6400800" y="1554480"/>
            <a:ext cx="2011680" cy="292608"/>
          </a:xfrm>
          <a:prstGeom prst="rect">
            <a:avLst/>
          </a:prstGeom>
          <a:solidFill>
            <a:srgbClr val="0D9488"/>
          </a:solidFill>
          <a:ln/>
        </p:spPr>
      </p:sp>
      <p:sp>
        <p:nvSpPr>
          <p:cNvPr id="17" name="Text 14"/>
          <p:cNvSpPr/>
          <p:nvPr/>
        </p:nvSpPr>
        <p:spPr>
          <a:xfrm>
            <a:off x="8458200" y="1554480"/>
            <a:ext cx="16459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0D9488"/>
                </a:solidFill>
              </a:rPr>
              <a:t>₹918 Cr</a:t>
            </a:r>
            <a:endParaRPr lang="en-US" sz="1000" dirty="0"/>
          </a:p>
        </p:txBody>
      </p:sp>
      <p:sp>
        <p:nvSpPr>
          <p:cNvPr id="18" name="Shape 15"/>
          <p:cNvSpPr/>
          <p:nvPr/>
        </p:nvSpPr>
        <p:spPr>
          <a:xfrm>
            <a:off x="4846320" y="2176272"/>
            <a:ext cx="3931920" cy="713232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19" name="Shape 16"/>
          <p:cNvSpPr/>
          <p:nvPr/>
        </p:nvSpPr>
        <p:spPr>
          <a:xfrm>
            <a:off x="4846320" y="2194560"/>
            <a:ext cx="54864" cy="676656"/>
          </a:xfrm>
          <a:prstGeom prst="rect">
            <a:avLst/>
          </a:prstGeom>
          <a:solidFill>
            <a:srgbClr val="0D1B2A"/>
          </a:solidFill>
          <a:ln/>
        </p:spPr>
      </p:sp>
      <p:sp>
        <p:nvSpPr>
          <p:cNvPr id="20" name="Text 17"/>
          <p:cNvSpPr/>
          <p:nvPr/>
        </p:nvSpPr>
        <p:spPr>
          <a:xfrm>
            <a:off x="4983480" y="2231136"/>
            <a:ext cx="1371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0D1B2A"/>
                </a:solidFill>
              </a:rPr>
              <a:t>C - Critical</a:t>
            </a:r>
            <a:endParaRPr lang="en-US" sz="1100" dirty="0"/>
          </a:p>
        </p:txBody>
      </p:sp>
      <p:sp>
        <p:nvSpPr>
          <p:cNvPr id="21" name="Text 18"/>
          <p:cNvSpPr/>
          <p:nvPr/>
        </p:nvSpPr>
        <p:spPr>
          <a:xfrm>
            <a:off x="4983480" y="2523744"/>
            <a:ext cx="13716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i="1" dirty="0">
                <a:solidFill>
                  <a:srgbClr val="9CA3AF"/>
                </a:solidFill>
              </a:rPr>
              <a:t>262 orders</a:t>
            </a:r>
            <a:endParaRPr lang="en-US" sz="900" dirty="0"/>
          </a:p>
        </p:txBody>
      </p:sp>
      <p:sp>
        <p:nvSpPr>
          <p:cNvPr id="22" name="Shape 19"/>
          <p:cNvSpPr/>
          <p:nvPr/>
        </p:nvSpPr>
        <p:spPr>
          <a:xfrm>
            <a:off x="6400800" y="2359152"/>
            <a:ext cx="1755270" cy="292608"/>
          </a:xfrm>
          <a:prstGeom prst="rect">
            <a:avLst/>
          </a:prstGeom>
          <a:solidFill>
            <a:srgbClr val="0D1B2A"/>
          </a:solidFill>
          <a:ln/>
        </p:spPr>
      </p:sp>
      <p:sp>
        <p:nvSpPr>
          <p:cNvPr id="23" name="Text 20"/>
          <p:cNvSpPr/>
          <p:nvPr/>
        </p:nvSpPr>
        <p:spPr>
          <a:xfrm>
            <a:off x="8201790" y="2359152"/>
            <a:ext cx="16459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0D1B2A"/>
                </a:solidFill>
              </a:rPr>
              <a:t>₹801 Cr</a:t>
            </a:r>
            <a:endParaRPr lang="en-US" sz="1000" dirty="0"/>
          </a:p>
        </p:txBody>
      </p:sp>
      <p:sp>
        <p:nvSpPr>
          <p:cNvPr id="24" name="Shape 21"/>
          <p:cNvSpPr/>
          <p:nvPr/>
        </p:nvSpPr>
        <p:spPr>
          <a:xfrm>
            <a:off x="4846320" y="2980944"/>
            <a:ext cx="3931920" cy="713232"/>
          </a:xfrm>
          <a:prstGeom prst="rect">
            <a:avLst/>
          </a:prstGeom>
          <a:solidFill>
            <a:srgbClr val="F8F9FA"/>
          </a:solidFill>
          <a:ln/>
        </p:spPr>
      </p:sp>
      <p:sp>
        <p:nvSpPr>
          <p:cNvPr id="25" name="Shape 22"/>
          <p:cNvSpPr/>
          <p:nvPr/>
        </p:nvSpPr>
        <p:spPr>
          <a:xfrm>
            <a:off x="4846320" y="2999232"/>
            <a:ext cx="54864" cy="676656"/>
          </a:xfrm>
          <a:prstGeom prst="rect">
            <a:avLst/>
          </a:prstGeom>
          <a:solidFill>
            <a:srgbClr val="F5A623"/>
          </a:solidFill>
          <a:ln/>
        </p:spPr>
      </p:sp>
      <p:sp>
        <p:nvSpPr>
          <p:cNvPr id="26" name="Text 23"/>
          <p:cNvSpPr/>
          <p:nvPr/>
        </p:nvSpPr>
        <p:spPr>
          <a:xfrm>
            <a:off x="4983480" y="3035808"/>
            <a:ext cx="1371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0D1B2A"/>
                </a:solidFill>
              </a:rPr>
              <a:t>M - Medium</a:t>
            </a:r>
            <a:endParaRPr lang="en-US" sz="1100" dirty="0"/>
          </a:p>
        </p:txBody>
      </p:sp>
      <p:sp>
        <p:nvSpPr>
          <p:cNvPr id="27" name="Text 24"/>
          <p:cNvSpPr/>
          <p:nvPr/>
        </p:nvSpPr>
        <p:spPr>
          <a:xfrm>
            <a:off x="4983480" y="3328416"/>
            <a:ext cx="13716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i="1" dirty="0">
                <a:solidFill>
                  <a:srgbClr val="9CA3AF"/>
                </a:solidFill>
              </a:rPr>
              <a:t>242 orders</a:t>
            </a:r>
            <a:endParaRPr lang="en-US" sz="900" dirty="0"/>
          </a:p>
        </p:txBody>
      </p:sp>
      <p:sp>
        <p:nvSpPr>
          <p:cNvPr id="28" name="Shape 25"/>
          <p:cNvSpPr/>
          <p:nvPr/>
        </p:nvSpPr>
        <p:spPr>
          <a:xfrm>
            <a:off x="6400800" y="3163824"/>
            <a:ext cx="1742311" cy="292608"/>
          </a:xfrm>
          <a:prstGeom prst="rect">
            <a:avLst/>
          </a:prstGeom>
          <a:solidFill>
            <a:srgbClr val="F5A623"/>
          </a:solidFill>
          <a:ln/>
        </p:spPr>
      </p:sp>
      <p:sp>
        <p:nvSpPr>
          <p:cNvPr id="29" name="Text 26"/>
          <p:cNvSpPr/>
          <p:nvPr/>
        </p:nvSpPr>
        <p:spPr>
          <a:xfrm>
            <a:off x="8188831" y="3163824"/>
            <a:ext cx="16459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F5A623"/>
                </a:solidFill>
              </a:rPr>
              <a:t>₹795 Cr</a:t>
            </a:r>
            <a:endParaRPr lang="en-US" sz="1000" dirty="0"/>
          </a:p>
        </p:txBody>
      </p:sp>
      <p:sp>
        <p:nvSpPr>
          <p:cNvPr id="30" name="Shape 27"/>
          <p:cNvSpPr/>
          <p:nvPr/>
        </p:nvSpPr>
        <p:spPr>
          <a:xfrm>
            <a:off x="4846320" y="3785616"/>
            <a:ext cx="3931920" cy="713232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31" name="Shape 28"/>
          <p:cNvSpPr/>
          <p:nvPr/>
        </p:nvSpPr>
        <p:spPr>
          <a:xfrm>
            <a:off x="4846320" y="3803904"/>
            <a:ext cx="54864" cy="676656"/>
          </a:xfrm>
          <a:prstGeom prst="rect">
            <a:avLst/>
          </a:prstGeom>
          <a:solidFill>
            <a:srgbClr val="DC2626"/>
          </a:solidFill>
          <a:ln/>
        </p:spPr>
      </p:sp>
      <p:sp>
        <p:nvSpPr>
          <p:cNvPr id="32" name="Text 29"/>
          <p:cNvSpPr/>
          <p:nvPr/>
        </p:nvSpPr>
        <p:spPr>
          <a:xfrm>
            <a:off x="4983480" y="3840480"/>
            <a:ext cx="1371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0D1B2A"/>
                </a:solidFill>
              </a:rPr>
              <a:t>H - High</a:t>
            </a:r>
            <a:endParaRPr lang="en-US" sz="1100" dirty="0"/>
          </a:p>
        </p:txBody>
      </p:sp>
      <p:sp>
        <p:nvSpPr>
          <p:cNvPr id="33" name="Text 30"/>
          <p:cNvSpPr/>
          <p:nvPr/>
        </p:nvSpPr>
        <p:spPr>
          <a:xfrm>
            <a:off x="4983480" y="4133088"/>
            <a:ext cx="13716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i="1" dirty="0">
                <a:solidFill>
                  <a:srgbClr val="9CA3AF"/>
                </a:solidFill>
              </a:rPr>
              <a:t>228 orders</a:t>
            </a:r>
            <a:endParaRPr lang="en-US" sz="900" dirty="0"/>
          </a:p>
        </p:txBody>
      </p:sp>
      <p:sp>
        <p:nvSpPr>
          <p:cNvPr id="34" name="Shape 31"/>
          <p:cNvSpPr/>
          <p:nvPr/>
        </p:nvSpPr>
        <p:spPr>
          <a:xfrm>
            <a:off x="6400800" y="3968496"/>
            <a:ext cx="1695640" cy="292608"/>
          </a:xfrm>
          <a:prstGeom prst="rect">
            <a:avLst/>
          </a:prstGeom>
          <a:solidFill>
            <a:srgbClr val="DC2626"/>
          </a:solidFill>
          <a:ln/>
        </p:spPr>
      </p:sp>
      <p:sp>
        <p:nvSpPr>
          <p:cNvPr id="35" name="Text 32"/>
          <p:cNvSpPr/>
          <p:nvPr/>
        </p:nvSpPr>
        <p:spPr>
          <a:xfrm>
            <a:off x="8142160" y="3968496"/>
            <a:ext cx="16459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DC2626"/>
                </a:solidFill>
              </a:rPr>
              <a:t>₹773 Cr</a:t>
            </a:r>
            <a:endParaRPr lang="en-US" sz="10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8F9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85800"/>
          </a:xfrm>
          <a:prstGeom prst="rect">
            <a:avLst/>
          </a:prstGeom>
          <a:solidFill>
            <a:srgbClr val="0D1B2A"/>
          </a:solidFill>
          <a:ln/>
        </p:spPr>
      </p:sp>
      <p:sp>
        <p:nvSpPr>
          <p:cNvPr id="3" name="Text 1"/>
          <p:cNvSpPr/>
          <p:nvPr/>
        </p:nvSpPr>
        <p:spPr>
          <a:xfrm>
            <a:off x="365760" y="91440"/>
            <a:ext cx="82296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spc="300" kern="0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TOP 10 COUNTRIES BY REVENUE</a:t>
            </a:r>
            <a:endParaRPr lang="en-US" sz="2000" dirty="0"/>
          </a:p>
        </p:txBody>
      </p:sp>
      <p:graphicFrame>
        <p:nvGraphicFramePr>
          <p:cNvPr id="4" name="Chart 0" descr=""/>
          <p:cNvGraphicFramePr/>
          <p:nvPr/>
        </p:nvGraphicFramePr>
        <p:xfrm>
          <a:off x="274320" y="822960"/>
          <a:ext cx="5029200" cy="411480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1"/>
          </a:graphicData>
        </a:graphic>
      </p:graphicFrame>
      <p:sp>
        <p:nvSpPr>
          <p:cNvPr id="5" name="Shape 2"/>
          <p:cNvSpPr/>
          <p:nvPr/>
        </p:nvSpPr>
        <p:spPr>
          <a:xfrm>
            <a:off x="5577840" y="822960"/>
            <a:ext cx="3291840" cy="411480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76200" dist="25400" dir="8100000">
              <a:srgbClr val="000000">
                <a:alpha val="10000"/>
              </a:srgbClr>
            </a:outerShdw>
          </a:effectLst>
        </p:spPr>
      </p:sp>
      <p:sp>
        <p:nvSpPr>
          <p:cNvPr id="6" name="Text 3"/>
          <p:cNvSpPr/>
          <p:nvPr/>
        </p:nvSpPr>
        <p:spPr>
          <a:xfrm>
            <a:off x="5577840" y="868680"/>
            <a:ext cx="32918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0D1B2A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RANKING</a:t>
            </a:r>
            <a:endParaRPr lang="en-US" sz="1200" dirty="0"/>
          </a:p>
        </p:txBody>
      </p:sp>
      <p:sp>
        <p:nvSpPr>
          <p:cNvPr id="7" name="Shape 4"/>
          <p:cNvSpPr/>
          <p:nvPr/>
        </p:nvSpPr>
        <p:spPr>
          <a:xfrm>
            <a:off x="5577840" y="1188720"/>
            <a:ext cx="3291840" cy="36576"/>
          </a:xfrm>
          <a:prstGeom prst="rect">
            <a:avLst/>
          </a:prstGeom>
          <a:solidFill>
            <a:srgbClr val="F5A623"/>
          </a:solidFill>
          <a:ln/>
        </p:spPr>
      </p:sp>
      <p:sp>
        <p:nvSpPr>
          <p:cNvPr id="8" name="Shape 5"/>
          <p:cNvSpPr/>
          <p:nvPr/>
        </p:nvSpPr>
        <p:spPr>
          <a:xfrm>
            <a:off x="5577840" y="1280160"/>
            <a:ext cx="3291840" cy="347472"/>
          </a:xfrm>
          <a:prstGeom prst="rect">
            <a:avLst/>
          </a:prstGeom>
          <a:solidFill>
            <a:srgbClr val="F8F9FA"/>
          </a:solidFill>
          <a:ln/>
        </p:spPr>
      </p:sp>
      <p:sp>
        <p:nvSpPr>
          <p:cNvPr id="9" name="Shape 6"/>
          <p:cNvSpPr/>
          <p:nvPr/>
        </p:nvSpPr>
        <p:spPr>
          <a:xfrm>
            <a:off x="5623560" y="1316736"/>
            <a:ext cx="274320" cy="274320"/>
          </a:xfrm>
          <a:prstGeom prst="ellipse">
            <a:avLst/>
          </a:prstGeom>
          <a:solidFill>
            <a:srgbClr val="F5A623"/>
          </a:solidFill>
          <a:ln w="12700">
            <a:solidFill>
              <a:srgbClr val="F5A623"/>
            </a:solidFill>
            <a:prstDash val="solid"/>
          </a:ln>
        </p:spPr>
      </p:sp>
      <p:sp>
        <p:nvSpPr>
          <p:cNvPr id="10" name="Text 7"/>
          <p:cNvSpPr/>
          <p:nvPr/>
        </p:nvSpPr>
        <p:spPr>
          <a:xfrm>
            <a:off x="5623560" y="1316736"/>
            <a:ext cx="274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</a:rPr>
              <a:t>1</a:t>
            </a:r>
            <a:endParaRPr lang="en-US" sz="900" dirty="0"/>
          </a:p>
        </p:txBody>
      </p:sp>
      <p:sp>
        <p:nvSpPr>
          <p:cNvPr id="11" name="Text 8"/>
          <p:cNvSpPr/>
          <p:nvPr/>
        </p:nvSpPr>
        <p:spPr>
          <a:xfrm>
            <a:off x="5943600" y="1344168"/>
            <a:ext cx="164592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Cuba</a:t>
            </a:r>
            <a:endParaRPr lang="en-US" sz="1000" dirty="0"/>
          </a:p>
        </p:txBody>
      </p:sp>
      <p:sp>
        <p:nvSpPr>
          <p:cNvPr id="12" name="Text 9"/>
          <p:cNvSpPr/>
          <p:nvPr/>
        </p:nvSpPr>
        <p:spPr>
          <a:xfrm>
            <a:off x="7589520" y="1344168"/>
            <a:ext cx="123444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b="1" dirty="0">
                <a:solidFill>
                  <a:srgbClr val="F5A623"/>
                </a:solidFill>
              </a:rPr>
              <a:t>₹231 Cr</a:t>
            </a:r>
            <a:endParaRPr lang="en-US" sz="1000" dirty="0"/>
          </a:p>
        </p:txBody>
      </p:sp>
      <p:sp>
        <p:nvSpPr>
          <p:cNvPr id="13" name="Shape 10"/>
          <p:cNvSpPr/>
          <p:nvPr/>
        </p:nvSpPr>
        <p:spPr>
          <a:xfrm>
            <a:off x="5577840" y="1636776"/>
            <a:ext cx="3291840" cy="347472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14" name="Shape 11"/>
          <p:cNvSpPr/>
          <p:nvPr/>
        </p:nvSpPr>
        <p:spPr>
          <a:xfrm>
            <a:off x="5623560" y="1673352"/>
            <a:ext cx="274320" cy="274320"/>
          </a:xfrm>
          <a:prstGeom prst="ellipse">
            <a:avLst/>
          </a:prstGeom>
          <a:solidFill>
            <a:srgbClr val="E8961A"/>
          </a:solidFill>
          <a:ln w="12700">
            <a:solidFill>
              <a:srgbClr val="E8961A"/>
            </a:solidFill>
            <a:prstDash val="solid"/>
          </a:ln>
        </p:spPr>
      </p:sp>
      <p:sp>
        <p:nvSpPr>
          <p:cNvPr id="15" name="Text 12"/>
          <p:cNvSpPr/>
          <p:nvPr/>
        </p:nvSpPr>
        <p:spPr>
          <a:xfrm>
            <a:off x="5623560" y="1673352"/>
            <a:ext cx="274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</a:rPr>
              <a:t>2</a:t>
            </a:r>
            <a:endParaRPr lang="en-US" sz="900" dirty="0"/>
          </a:p>
        </p:txBody>
      </p:sp>
      <p:sp>
        <p:nvSpPr>
          <p:cNvPr id="16" name="Text 13"/>
          <p:cNvSpPr/>
          <p:nvPr/>
        </p:nvSpPr>
        <p:spPr>
          <a:xfrm>
            <a:off x="5943600" y="1700784"/>
            <a:ext cx="164592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Papua New Guinea</a:t>
            </a:r>
            <a:endParaRPr lang="en-US" sz="1000" dirty="0"/>
          </a:p>
        </p:txBody>
      </p:sp>
      <p:sp>
        <p:nvSpPr>
          <p:cNvPr id="17" name="Text 14"/>
          <p:cNvSpPr/>
          <p:nvPr/>
        </p:nvSpPr>
        <p:spPr>
          <a:xfrm>
            <a:off x="7589520" y="1700784"/>
            <a:ext cx="123444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b="1" dirty="0">
                <a:solidFill>
                  <a:srgbClr val="E8961A"/>
                </a:solidFill>
              </a:rPr>
              <a:t>₹187 Cr</a:t>
            </a:r>
            <a:endParaRPr lang="en-US" sz="1000" dirty="0"/>
          </a:p>
        </p:txBody>
      </p:sp>
      <p:sp>
        <p:nvSpPr>
          <p:cNvPr id="18" name="Shape 15"/>
          <p:cNvSpPr/>
          <p:nvPr/>
        </p:nvSpPr>
        <p:spPr>
          <a:xfrm>
            <a:off x="5577840" y="1993392"/>
            <a:ext cx="3291840" cy="347472"/>
          </a:xfrm>
          <a:prstGeom prst="rect">
            <a:avLst/>
          </a:prstGeom>
          <a:solidFill>
            <a:srgbClr val="F8F9FA"/>
          </a:solidFill>
          <a:ln/>
        </p:spPr>
      </p:sp>
      <p:sp>
        <p:nvSpPr>
          <p:cNvPr id="19" name="Shape 16"/>
          <p:cNvSpPr/>
          <p:nvPr/>
        </p:nvSpPr>
        <p:spPr>
          <a:xfrm>
            <a:off x="5623560" y="2029968"/>
            <a:ext cx="274320" cy="274320"/>
          </a:xfrm>
          <a:prstGeom prst="ellipse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20" name="Text 17"/>
          <p:cNvSpPr/>
          <p:nvPr/>
        </p:nvSpPr>
        <p:spPr>
          <a:xfrm>
            <a:off x="5623560" y="2029968"/>
            <a:ext cx="274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</a:rPr>
              <a:t>3</a:t>
            </a:r>
            <a:endParaRPr lang="en-US" sz="900" dirty="0"/>
          </a:p>
        </p:txBody>
      </p:sp>
      <p:sp>
        <p:nvSpPr>
          <p:cNvPr id="21" name="Text 18"/>
          <p:cNvSpPr/>
          <p:nvPr/>
        </p:nvSpPr>
        <p:spPr>
          <a:xfrm>
            <a:off x="5943600" y="2057400"/>
            <a:ext cx="164592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Ghana</a:t>
            </a:r>
            <a:endParaRPr lang="en-US" sz="1000" dirty="0"/>
          </a:p>
        </p:txBody>
      </p:sp>
      <p:sp>
        <p:nvSpPr>
          <p:cNvPr id="22" name="Text 19"/>
          <p:cNvSpPr/>
          <p:nvPr/>
        </p:nvSpPr>
        <p:spPr>
          <a:xfrm>
            <a:off x="7589520" y="2057400"/>
            <a:ext cx="123444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b="1" dirty="0">
                <a:solidFill>
                  <a:srgbClr val="0D9488"/>
                </a:solidFill>
              </a:rPr>
              <a:t>₹179 Cr</a:t>
            </a:r>
            <a:endParaRPr lang="en-US" sz="1000" dirty="0"/>
          </a:p>
        </p:txBody>
      </p:sp>
      <p:sp>
        <p:nvSpPr>
          <p:cNvPr id="23" name="Shape 20"/>
          <p:cNvSpPr/>
          <p:nvPr/>
        </p:nvSpPr>
        <p:spPr>
          <a:xfrm>
            <a:off x="5577840" y="2350008"/>
            <a:ext cx="3291840" cy="347472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24" name="Shape 21"/>
          <p:cNvSpPr/>
          <p:nvPr/>
        </p:nvSpPr>
        <p:spPr>
          <a:xfrm>
            <a:off x="5623560" y="2386584"/>
            <a:ext cx="274320" cy="274320"/>
          </a:xfrm>
          <a:prstGeom prst="ellipse">
            <a:avLst/>
          </a:prstGeom>
          <a:solidFill>
            <a:srgbClr val="1A4A7A"/>
          </a:solidFill>
          <a:ln w="12700">
            <a:solidFill>
              <a:srgbClr val="1A4A7A"/>
            </a:solidFill>
            <a:prstDash val="solid"/>
          </a:ln>
        </p:spPr>
      </p:sp>
      <p:sp>
        <p:nvSpPr>
          <p:cNvPr id="25" name="Text 22"/>
          <p:cNvSpPr/>
          <p:nvPr/>
        </p:nvSpPr>
        <p:spPr>
          <a:xfrm>
            <a:off x="5623560" y="2386584"/>
            <a:ext cx="274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</a:rPr>
              <a:t>4</a:t>
            </a:r>
            <a:endParaRPr lang="en-US" sz="900" dirty="0"/>
          </a:p>
        </p:txBody>
      </p:sp>
      <p:sp>
        <p:nvSpPr>
          <p:cNvPr id="26" name="Text 23"/>
          <p:cNvSpPr/>
          <p:nvPr/>
        </p:nvSpPr>
        <p:spPr>
          <a:xfrm>
            <a:off x="5943600" y="2414016"/>
            <a:ext cx="164592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Costa Rica</a:t>
            </a:r>
            <a:endParaRPr lang="en-US" sz="1000" dirty="0"/>
          </a:p>
        </p:txBody>
      </p:sp>
      <p:sp>
        <p:nvSpPr>
          <p:cNvPr id="27" name="Text 24"/>
          <p:cNvSpPr/>
          <p:nvPr/>
        </p:nvSpPr>
        <p:spPr>
          <a:xfrm>
            <a:off x="7589520" y="2414016"/>
            <a:ext cx="123444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b="1" dirty="0">
                <a:solidFill>
                  <a:srgbClr val="1A4A7A"/>
                </a:solidFill>
              </a:rPr>
              <a:t>₹165 Cr</a:t>
            </a:r>
            <a:endParaRPr lang="en-US" sz="1000" dirty="0"/>
          </a:p>
        </p:txBody>
      </p:sp>
      <p:sp>
        <p:nvSpPr>
          <p:cNvPr id="28" name="Shape 25"/>
          <p:cNvSpPr/>
          <p:nvPr/>
        </p:nvSpPr>
        <p:spPr>
          <a:xfrm>
            <a:off x="5577840" y="2706624"/>
            <a:ext cx="3291840" cy="347472"/>
          </a:xfrm>
          <a:prstGeom prst="rect">
            <a:avLst/>
          </a:prstGeom>
          <a:solidFill>
            <a:srgbClr val="F8F9FA"/>
          </a:solidFill>
          <a:ln/>
        </p:spPr>
      </p:sp>
      <p:sp>
        <p:nvSpPr>
          <p:cNvPr id="29" name="Shape 26"/>
          <p:cNvSpPr/>
          <p:nvPr/>
        </p:nvSpPr>
        <p:spPr>
          <a:xfrm>
            <a:off x="5623560" y="2743200"/>
            <a:ext cx="274320" cy="274320"/>
          </a:xfrm>
          <a:prstGeom prst="ellipse">
            <a:avLst/>
          </a:prstGeom>
          <a:solidFill>
            <a:srgbClr val="1A4A7A"/>
          </a:solidFill>
          <a:ln w="12700">
            <a:solidFill>
              <a:srgbClr val="1A4A7A"/>
            </a:solidFill>
            <a:prstDash val="solid"/>
          </a:ln>
        </p:spPr>
      </p:sp>
      <p:sp>
        <p:nvSpPr>
          <p:cNvPr id="30" name="Text 27"/>
          <p:cNvSpPr/>
          <p:nvPr/>
        </p:nvSpPr>
        <p:spPr>
          <a:xfrm>
            <a:off x="5623560" y="2743200"/>
            <a:ext cx="274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</a:rPr>
              <a:t>5</a:t>
            </a:r>
            <a:endParaRPr lang="en-US" sz="900" dirty="0"/>
          </a:p>
        </p:txBody>
      </p:sp>
      <p:sp>
        <p:nvSpPr>
          <p:cNvPr id="31" name="Text 28"/>
          <p:cNvSpPr/>
          <p:nvPr/>
        </p:nvSpPr>
        <p:spPr>
          <a:xfrm>
            <a:off x="5943600" y="2770632"/>
            <a:ext cx="164592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Iran</a:t>
            </a:r>
            <a:endParaRPr lang="en-US" sz="1000" dirty="0"/>
          </a:p>
        </p:txBody>
      </p:sp>
      <p:sp>
        <p:nvSpPr>
          <p:cNvPr id="32" name="Text 29"/>
          <p:cNvSpPr/>
          <p:nvPr/>
        </p:nvSpPr>
        <p:spPr>
          <a:xfrm>
            <a:off x="7589520" y="2770632"/>
            <a:ext cx="123444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b="1" dirty="0">
                <a:solidFill>
                  <a:srgbClr val="1A4A7A"/>
                </a:solidFill>
              </a:rPr>
              <a:t>₹157 Cr</a:t>
            </a:r>
            <a:endParaRPr lang="en-US" sz="1000" dirty="0"/>
          </a:p>
        </p:txBody>
      </p:sp>
      <p:sp>
        <p:nvSpPr>
          <p:cNvPr id="33" name="Shape 30"/>
          <p:cNvSpPr/>
          <p:nvPr/>
        </p:nvSpPr>
        <p:spPr>
          <a:xfrm>
            <a:off x="5577840" y="3063240"/>
            <a:ext cx="3291840" cy="347472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34" name="Shape 31"/>
          <p:cNvSpPr/>
          <p:nvPr/>
        </p:nvSpPr>
        <p:spPr>
          <a:xfrm>
            <a:off x="5623560" y="3099816"/>
            <a:ext cx="274320" cy="274320"/>
          </a:xfrm>
          <a:prstGeom prst="ellipse">
            <a:avLst/>
          </a:prstGeom>
          <a:solidFill>
            <a:srgbClr val="1A4A7A"/>
          </a:solidFill>
          <a:ln w="12700">
            <a:solidFill>
              <a:srgbClr val="1A4A7A"/>
            </a:solidFill>
            <a:prstDash val="solid"/>
          </a:ln>
        </p:spPr>
      </p:sp>
      <p:sp>
        <p:nvSpPr>
          <p:cNvPr id="35" name="Text 32"/>
          <p:cNvSpPr/>
          <p:nvPr/>
        </p:nvSpPr>
        <p:spPr>
          <a:xfrm>
            <a:off x="5623560" y="3099816"/>
            <a:ext cx="274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</a:rPr>
              <a:t>6</a:t>
            </a:r>
            <a:endParaRPr lang="en-US" sz="900" dirty="0"/>
          </a:p>
        </p:txBody>
      </p:sp>
      <p:sp>
        <p:nvSpPr>
          <p:cNvPr id="36" name="Text 33"/>
          <p:cNvSpPr/>
          <p:nvPr/>
        </p:nvSpPr>
        <p:spPr>
          <a:xfrm>
            <a:off x="5943600" y="3127248"/>
            <a:ext cx="164592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Chad</a:t>
            </a:r>
            <a:endParaRPr lang="en-US" sz="1000" dirty="0"/>
          </a:p>
        </p:txBody>
      </p:sp>
      <p:sp>
        <p:nvSpPr>
          <p:cNvPr id="37" name="Text 34"/>
          <p:cNvSpPr/>
          <p:nvPr/>
        </p:nvSpPr>
        <p:spPr>
          <a:xfrm>
            <a:off x="7589520" y="3127248"/>
            <a:ext cx="123444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b="1" dirty="0">
                <a:solidFill>
                  <a:srgbClr val="1A4A7A"/>
                </a:solidFill>
              </a:rPr>
              <a:t>₹145 Cr</a:t>
            </a:r>
            <a:endParaRPr lang="en-US" sz="1000" dirty="0"/>
          </a:p>
        </p:txBody>
      </p:sp>
      <p:sp>
        <p:nvSpPr>
          <p:cNvPr id="38" name="Shape 35"/>
          <p:cNvSpPr/>
          <p:nvPr/>
        </p:nvSpPr>
        <p:spPr>
          <a:xfrm>
            <a:off x="5577840" y="3419856"/>
            <a:ext cx="3291840" cy="347472"/>
          </a:xfrm>
          <a:prstGeom prst="rect">
            <a:avLst/>
          </a:prstGeom>
          <a:solidFill>
            <a:srgbClr val="F8F9FA"/>
          </a:solidFill>
          <a:ln/>
        </p:spPr>
      </p:sp>
      <p:sp>
        <p:nvSpPr>
          <p:cNvPr id="39" name="Shape 36"/>
          <p:cNvSpPr/>
          <p:nvPr/>
        </p:nvSpPr>
        <p:spPr>
          <a:xfrm>
            <a:off x="5623560" y="3456432"/>
            <a:ext cx="274320" cy="274320"/>
          </a:xfrm>
          <a:prstGeom prst="ellipse">
            <a:avLst/>
          </a:prstGeom>
          <a:solidFill>
            <a:srgbClr val="1A4A7A"/>
          </a:solidFill>
          <a:ln w="12700">
            <a:solidFill>
              <a:srgbClr val="1A4A7A"/>
            </a:solidFill>
            <a:prstDash val="solid"/>
          </a:ln>
        </p:spPr>
      </p:sp>
      <p:sp>
        <p:nvSpPr>
          <p:cNvPr id="40" name="Text 37"/>
          <p:cNvSpPr/>
          <p:nvPr/>
        </p:nvSpPr>
        <p:spPr>
          <a:xfrm>
            <a:off x="5623560" y="3456432"/>
            <a:ext cx="274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</a:rPr>
              <a:t>7</a:t>
            </a:r>
            <a:endParaRPr lang="en-US" sz="900" dirty="0"/>
          </a:p>
        </p:txBody>
      </p:sp>
      <p:sp>
        <p:nvSpPr>
          <p:cNvPr id="41" name="Text 38"/>
          <p:cNvSpPr/>
          <p:nvPr/>
        </p:nvSpPr>
        <p:spPr>
          <a:xfrm>
            <a:off x="5943600" y="3483864"/>
            <a:ext cx="164592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Central African Republic</a:t>
            </a:r>
            <a:endParaRPr lang="en-US" sz="1000" dirty="0"/>
          </a:p>
        </p:txBody>
      </p:sp>
      <p:sp>
        <p:nvSpPr>
          <p:cNvPr id="42" name="Text 39"/>
          <p:cNvSpPr/>
          <p:nvPr/>
        </p:nvSpPr>
        <p:spPr>
          <a:xfrm>
            <a:off x="7589520" y="3483864"/>
            <a:ext cx="123444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b="1" dirty="0">
                <a:solidFill>
                  <a:srgbClr val="1A4A7A"/>
                </a:solidFill>
              </a:rPr>
              <a:t>₹139 Cr</a:t>
            </a:r>
            <a:endParaRPr lang="en-US" sz="1000" dirty="0"/>
          </a:p>
        </p:txBody>
      </p:sp>
      <p:sp>
        <p:nvSpPr>
          <p:cNvPr id="43" name="Shape 40"/>
          <p:cNvSpPr/>
          <p:nvPr/>
        </p:nvSpPr>
        <p:spPr>
          <a:xfrm>
            <a:off x="5577840" y="3776472"/>
            <a:ext cx="3291840" cy="347472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44" name="Shape 41"/>
          <p:cNvSpPr/>
          <p:nvPr/>
        </p:nvSpPr>
        <p:spPr>
          <a:xfrm>
            <a:off x="5623560" y="3813048"/>
            <a:ext cx="274320" cy="274320"/>
          </a:xfrm>
          <a:prstGeom prst="ellipse">
            <a:avLst/>
          </a:prstGeom>
          <a:solidFill>
            <a:srgbClr val="1A4A7A"/>
          </a:solidFill>
          <a:ln w="12700">
            <a:solidFill>
              <a:srgbClr val="1A4A7A"/>
            </a:solidFill>
            <a:prstDash val="solid"/>
          </a:ln>
        </p:spPr>
      </p:sp>
      <p:sp>
        <p:nvSpPr>
          <p:cNvPr id="45" name="Text 42"/>
          <p:cNvSpPr/>
          <p:nvPr/>
        </p:nvSpPr>
        <p:spPr>
          <a:xfrm>
            <a:off x="5623560" y="3813048"/>
            <a:ext cx="274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</a:rPr>
              <a:t>8</a:t>
            </a:r>
            <a:endParaRPr lang="en-US" sz="900" dirty="0"/>
          </a:p>
        </p:txBody>
      </p:sp>
      <p:sp>
        <p:nvSpPr>
          <p:cNvPr id="46" name="Text 43"/>
          <p:cNvSpPr/>
          <p:nvPr/>
        </p:nvSpPr>
        <p:spPr>
          <a:xfrm>
            <a:off x="5943600" y="3840480"/>
            <a:ext cx="164592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Malaysia</a:t>
            </a:r>
            <a:endParaRPr lang="en-US" sz="1000" dirty="0"/>
          </a:p>
        </p:txBody>
      </p:sp>
      <p:sp>
        <p:nvSpPr>
          <p:cNvPr id="47" name="Text 44"/>
          <p:cNvSpPr/>
          <p:nvPr/>
        </p:nvSpPr>
        <p:spPr>
          <a:xfrm>
            <a:off x="7589520" y="3840480"/>
            <a:ext cx="123444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b="1" dirty="0">
                <a:solidFill>
                  <a:srgbClr val="1A4A7A"/>
                </a:solidFill>
              </a:rPr>
              <a:t>₹138 Cr</a:t>
            </a:r>
            <a:endParaRPr lang="en-US" sz="1000" dirty="0"/>
          </a:p>
        </p:txBody>
      </p:sp>
      <p:sp>
        <p:nvSpPr>
          <p:cNvPr id="48" name="Shape 45"/>
          <p:cNvSpPr/>
          <p:nvPr/>
        </p:nvSpPr>
        <p:spPr>
          <a:xfrm>
            <a:off x="5577840" y="4133088"/>
            <a:ext cx="3291840" cy="347472"/>
          </a:xfrm>
          <a:prstGeom prst="rect">
            <a:avLst/>
          </a:prstGeom>
          <a:solidFill>
            <a:srgbClr val="F8F9FA"/>
          </a:solidFill>
          <a:ln/>
        </p:spPr>
      </p:sp>
      <p:sp>
        <p:nvSpPr>
          <p:cNvPr id="49" name="Shape 46"/>
          <p:cNvSpPr/>
          <p:nvPr/>
        </p:nvSpPr>
        <p:spPr>
          <a:xfrm>
            <a:off x="5623560" y="4169664"/>
            <a:ext cx="274320" cy="274320"/>
          </a:xfrm>
          <a:prstGeom prst="ellipse">
            <a:avLst/>
          </a:prstGeom>
          <a:solidFill>
            <a:srgbClr val="1A4A7A"/>
          </a:solidFill>
          <a:ln w="12700">
            <a:solidFill>
              <a:srgbClr val="1A4A7A"/>
            </a:solidFill>
            <a:prstDash val="solid"/>
          </a:ln>
        </p:spPr>
      </p:sp>
      <p:sp>
        <p:nvSpPr>
          <p:cNvPr id="50" name="Text 47"/>
          <p:cNvSpPr/>
          <p:nvPr/>
        </p:nvSpPr>
        <p:spPr>
          <a:xfrm>
            <a:off x="5623560" y="4169664"/>
            <a:ext cx="274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</a:rPr>
              <a:t>9</a:t>
            </a:r>
            <a:endParaRPr lang="en-US" sz="900" dirty="0"/>
          </a:p>
        </p:txBody>
      </p:sp>
      <p:sp>
        <p:nvSpPr>
          <p:cNvPr id="51" name="Text 48"/>
          <p:cNvSpPr/>
          <p:nvPr/>
        </p:nvSpPr>
        <p:spPr>
          <a:xfrm>
            <a:off x="5943600" y="4197096"/>
            <a:ext cx="164592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Austria</a:t>
            </a:r>
            <a:endParaRPr lang="en-US" sz="1000" dirty="0"/>
          </a:p>
        </p:txBody>
      </p:sp>
      <p:sp>
        <p:nvSpPr>
          <p:cNvPr id="52" name="Text 49"/>
          <p:cNvSpPr/>
          <p:nvPr/>
        </p:nvSpPr>
        <p:spPr>
          <a:xfrm>
            <a:off x="7589520" y="4197096"/>
            <a:ext cx="123444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b="1" dirty="0">
                <a:solidFill>
                  <a:srgbClr val="1A4A7A"/>
                </a:solidFill>
              </a:rPr>
              <a:t>₹136 Cr</a:t>
            </a:r>
            <a:endParaRPr lang="en-US" sz="1000" dirty="0"/>
          </a:p>
        </p:txBody>
      </p:sp>
      <p:sp>
        <p:nvSpPr>
          <p:cNvPr id="53" name="Shape 50"/>
          <p:cNvSpPr/>
          <p:nvPr/>
        </p:nvSpPr>
        <p:spPr>
          <a:xfrm>
            <a:off x="5577840" y="4489704"/>
            <a:ext cx="3291840" cy="347472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54" name="Shape 51"/>
          <p:cNvSpPr/>
          <p:nvPr/>
        </p:nvSpPr>
        <p:spPr>
          <a:xfrm>
            <a:off x="5623560" y="4526280"/>
            <a:ext cx="274320" cy="274320"/>
          </a:xfrm>
          <a:prstGeom prst="ellipse">
            <a:avLst/>
          </a:prstGeom>
          <a:solidFill>
            <a:srgbClr val="1A4A7A"/>
          </a:solidFill>
          <a:ln w="12700">
            <a:solidFill>
              <a:srgbClr val="1A4A7A"/>
            </a:solidFill>
            <a:prstDash val="solid"/>
          </a:ln>
        </p:spPr>
      </p:sp>
      <p:sp>
        <p:nvSpPr>
          <p:cNvPr id="55" name="Text 52"/>
          <p:cNvSpPr/>
          <p:nvPr/>
        </p:nvSpPr>
        <p:spPr>
          <a:xfrm>
            <a:off x="5623560" y="4526280"/>
            <a:ext cx="274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</a:rPr>
              <a:t>10</a:t>
            </a:r>
            <a:endParaRPr lang="en-US" sz="900" dirty="0"/>
          </a:p>
        </p:txBody>
      </p:sp>
      <p:sp>
        <p:nvSpPr>
          <p:cNvPr id="56" name="Text 53"/>
          <p:cNvSpPr/>
          <p:nvPr/>
        </p:nvSpPr>
        <p:spPr>
          <a:xfrm>
            <a:off x="5943600" y="4553712"/>
            <a:ext cx="164592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Vanuatu</a:t>
            </a:r>
            <a:endParaRPr lang="en-US" sz="1000" dirty="0"/>
          </a:p>
        </p:txBody>
      </p:sp>
      <p:sp>
        <p:nvSpPr>
          <p:cNvPr id="57" name="Text 54"/>
          <p:cNvSpPr/>
          <p:nvPr/>
        </p:nvSpPr>
        <p:spPr>
          <a:xfrm>
            <a:off x="7589520" y="4553712"/>
            <a:ext cx="123444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b="1" dirty="0">
                <a:solidFill>
                  <a:srgbClr val="1A4A7A"/>
                </a:solidFill>
              </a:rPr>
              <a:t>₹135 Cr</a:t>
            </a:r>
            <a:endParaRPr lang="en-US" sz="10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8F9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85800"/>
          </a:xfrm>
          <a:prstGeom prst="rect">
            <a:avLst/>
          </a:prstGeom>
          <a:solidFill>
            <a:srgbClr val="0D1B2A"/>
          </a:solidFill>
          <a:ln/>
        </p:spPr>
      </p:sp>
      <p:sp>
        <p:nvSpPr>
          <p:cNvPr id="3" name="Text 1"/>
          <p:cNvSpPr/>
          <p:nvPr/>
        </p:nvSpPr>
        <p:spPr>
          <a:xfrm>
            <a:off x="365760" y="91440"/>
            <a:ext cx="82296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spc="300" kern="0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YEAR-WISE DETAILED SUMMARY</a:t>
            </a:r>
            <a:endParaRPr lang="en-US" sz="2000" dirty="0"/>
          </a:p>
        </p:txBody>
      </p:sp>
      <p:graphicFrame>
        <p:nvGraphicFramePr>
          <p:cNvPr id="8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274320" y="822960"/>
          <a:ext cx="8595360" cy="4114800"/>
        </p:xfrm>
        <a:graphic>
          <a:graphicData uri="http://schemas.openxmlformats.org/drawingml/2006/table">
            <a:tbl>
              <a:tblPr/>
              <a:tblGrid>
                <a:gridCol w="640080"/>
                <a:gridCol w="685800"/>
                <a:gridCol w="1417320"/>
                <a:gridCol w="1417320"/>
                <a:gridCol w="1325880"/>
                <a:gridCol w="1280160"/>
              </a:tblGrid>
              <a:tr h="41148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Year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D1B2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Orders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D1B2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Revenue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D1B2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Cost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D1B2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Profit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D1B2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Units Sold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D1B2A"/>
                    </a:solidFill>
                  </a:tcPr>
                </a:tc>
              </a:tr>
              <a:tr h="41148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0D1B2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2010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37415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140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37415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₹1474 Cr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37415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₹1029 Cr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37415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₹445 Cr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37415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7,28,870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1148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0D1B2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2011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2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37415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121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2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37415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₹1259 Cr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2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37415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₹893 Cr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2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37415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₹367 Cr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2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37415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6,11,145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2FF"/>
                    </a:solidFill>
                  </a:tcPr>
                </a:tc>
              </a:tr>
              <a:tr h="41148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0D1B2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2012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37415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141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37415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₹1482 Cr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37415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₹1058 Cr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37415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₹424 Cr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37415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6,88,191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1148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0D1B2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2013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2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37415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137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2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37415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₹1594 Cr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2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37415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₹1143 Cr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2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37415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₹452 Cr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2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37415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6,98,418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2FF"/>
                    </a:solidFill>
                  </a:tcPr>
                </a:tc>
              </a:tr>
              <a:tr h="41148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0D1B2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2014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37415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146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37415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₹1639 Cr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37415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₹1151 Cr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37415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₹488 Cr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37415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6,98,552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1148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0D1B2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2015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2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37415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123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2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37415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₹1516 Cr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2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37415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₹1072 Cr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2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37415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₹445 Cr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2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37415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6,21,628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2FF"/>
                    </a:solidFill>
                  </a:tcPr>
                </a:tc>
              </a:tr>
              <a:tr h="41148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0D1B2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2016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37415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123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37415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₹1379 Cr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37415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₹956 Cr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37415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₹422 Cr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37415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6,12,152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1148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0D1B2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2017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2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37415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69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2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37415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₹807 Cr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2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37415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₹562 Cr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2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37415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₹245 Cr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2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37415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3,95,032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2FF"/>
                    </a:solidFill>
                  </a:tcPr>
                </a:tc>
              </a:tr>
              <a:tr h="41148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TOTAL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B2D42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1,000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B2D42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F5A62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₹11150 Cr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B2D42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₹7863 Cr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B2D42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7AE07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₹3286 Cr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B2D42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50,53,988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B2D42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0D1B2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09728" cy="5143500"/>
          </a:xfrm>
          <a:prstGeom prst="rect">
            <a:avLst/>
          </a:prstGeom>
          <a:solidFill>
            <a:srgbClr val="F5A623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4663440"/>
            <a:ext cx="9144000" cy="480060"/>
          </a:xfrm>
          <a:prstGeom prst="rect">
            <a:avLst/>
          </a:prstGeom>
          <a:solidFill>
            <a:srgbClr val="1A4A7A"/>
          </a:solidFill>
          <a:ln/>
        </p:spPr>
      </p:sp>
      <p:sp>
        <p:nvSpPr>
          <p:cNvPr id="4" name="Text 2"/>
          <p:cNvSpPr/>
          <p:nvPr/>
        </p:nvSpPr>
        <p:spPr>
          <a:xfrm>
            <a:off x="365760" y="228600"/>
            <a:ext cx="822960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spc="300" kern="0" dirty="0">
                <a:solidFill>
                  <a:srgbClr val="F5A623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KEY INSIGHTS &amp; TAKEAWAYS</a:t>
            </a:r>
            <a:endParaRPr lang="en-US" sz="2800" dirty="0"/>
          </a:p>
        </p:txBody>
      </p:sp>
      <p:sp>
        <p:nvSpPr>
          <p:cNvPr id="5" name="Shape 3"/>
          <p:cNvSpPr/>
          <p:nvPr/>
        </p:nvSpPr>
        <p:spPr>
          <a:xfrm>
            <a:off x="365760" y="868680"/>
            <a:ext cx="5029200" cy="36576"/>
          </a:xfrm>
          <a:prstGeom prst="rect">
            <a:avLst/>
          </a:prstGeom>
          <a:solidFill>
            <a:srgbClr val="F5A623"/>
          </a:solidFill>
          <a:ln/>
        </p:spPr>
      </p:sp>
      <p:sp>
        <p:nvSpPr>
          <p:cNvPr id="6" name="Shape 4"/>
          <p:cNvSpPr/>
          <p:nvPr/>
        </p:nvSpPr>
        <p:spPr>
          <a:xfrm>
            <a:off x="365760" y="1051560"/>
            <a:ext cx="502920" cy="502920"/>
          </a:xfrm>
          <a:prstGeom prst="ellipse">
            <a:avLst/>
          </a:prstGeom>
          <a:solidFill>
            <a:srgbClr val="F5A623"/>
          </a:solidFill>
          <a:ln w="12700">
            <a:solidFill>
              <a:srgbClr val="F5A623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365760" y="1051560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dirty="0">
                <a:solidFill>
                  <a:srgbClr val="000000"/>
                </a:solidFill>
              </a:rPr>
              <a:t>📊</a:t>
            </a:r>
            <a:endParaRPr lang="en-US" sz="1800" dirty="0"/>
          </a:p>
        </p:txBody>
      </p:sp>
      <p:sp>
        <p:nvSpPr>
          <p:cNvPr id="8" name="Text 6"/>
          <p:cNvSpPr/>
          <p:nvPr/>
        </p:nvSpPr>
        <p:spPr>
          <a:xfrm>
            <a:off x="960120" y="1051560"/>
            <a:ext cx="25603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5A62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Peak Revenue Year:</a:t>
            </a:r>
            <a:endParaRPr lang="en-US" sz="1200" dirty="0"/>
          </a:p>
        </p:txBody>
      </p:sp>
      <p:sp>
        <p:nvSpPr>
          <p:cNvPr id="9" name="Text 7"/>
          <p:cNvSpPr/>
          <p:nvPr/>
        </p:nvSpPr>
        <p:spPr>
          <a:xfrm>
            <a:off x="960120" y="1280160"/>
            <a:ext cx="77724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E5E7E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2014 mein sabse zyada revenue raha — ₹1639 Cr, uske baad lagatar decline.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365760" y="1819656"/>
            <a:ext cx="502920" cy="502920"/>
          </a:xfrm>
          <a:prstGeom prst="ellipse">
            <a:avLst/>
          </a:prstGeom>
          <a:solidFill>
            <a:srgbClr val="F5A623"/>
          </a:solidFill>
          <a:ln w="12700">
            <a:solidFill>
              <a:srgbClr val="F5A623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365760" y="1819656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dirty="0">
                <a:solidFill>
                  <a:srgbClr val="000000"/>
                </a:solidFill>
              </a:rPr>
              <a:t>🌍</a:t>
            </a:r>
            <a:endParaRPr lang="en-US" sz="1800" dirty="0"/>
          </a:p>
        </p:txBody>
      </p:sp>
      <p:sp>
        <p:nvSpPr>
          <p:cNvPr id="12" name="Text 10"/>
          <p:cNvSpPr/>
          <p:nvPr/>
        </p:nvSpPr>
        <p:spPr>
          <a:xfrm>
            <a:off x="960120" y="1819656"/>
            <a:ext cx="25603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5A62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Top Regions:</a:t>
            </a:r>
            <a:endParaRPr lang="en-US" sz="1200" dirty="0"/>
          </a:p>
        </p:txBody>
      </p:sp>
      <p:sp>
        <p:nvSpPr>
          <p:cNvPr id="13" name="Text 11"/>
          <p:cNvSpPr/>
          <p:nvPr/>
        </p:nvSpPr>
        <p:spPr>
          <a:xfrm>
            <a:off x="960120" y="2048256"/>
            <a:ext cx="77724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E5E7E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Sub-Saharan Africa &amp; Europe milke total global revenue ka ~53.5% dete hain.</a:t>
            </a:r>
            <a:endParaRPr lang="en-US" sz="1100" dirty="0"/>
          </a:p>
        </p:txBody>
      </p:sp>
      <p:sp>
        <p:nvSpPr>
          <p:cNvPr id="14" name="Shape 12"/>
          <p:cNvSpPr/>
          <p:nvPr/>
        </p:nvSpPr>
        <p:spPr>
          <a:xfrm>
            <a:off x="365760" y="2587752"/>
            <a:ext cx="502920" cy="502920"/>
          </a:xfrm>
          <a:prstGeom prst="ellipse">
            <a:avLst/>
          </a:prstGeom>
          <a:solidFill>
            <a:srgbClr val="F5A623"/>
          </a:solidFill>
          <a:ln w="12700">
            <a:solidFill>
              <a:srgbClr val="F5A623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365760" y="2587752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dirty="0">
                <a:solidFill>
                  <a:srgbClr val="000000"/>
                </a:solidFill>
              </a:rPr>
              <a:t>🛒</a:t>
            </a:r>
            <a:endParaRPr lang="en-US" sz="1800" dirty="0"/>
          </a:p>
        </p:txBody>
      </p:sp>
      <p:sp>
        <p:nvSpPr>
          <p:cNvPr id="16" name="Text 14"/>
          <p:cNvSpPr/>
          <p:nvPr/>
        </p:nvSpPr>
        <p:spPr>
          <a:xfrm>
            <a:off x="960120" y="2587752"/>
            <a:ext cx="25603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5A62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Offline Dominates:</a:t>
            </a:r>
            <a:endParaRPr lang="en-US" sz="1200" dirty="0"/>
          </a:p>
        </p:txBody>
      </p:sp>
      <p:sp>
        <p:nvSpPr>
          <p:cNvPr id="17" name="Text 15"/>
          <p:cNvSpPr/>
          <p:nvPr/>
        </p:nvSpPr>
        <p:spPr>
          <a:xfrm>
            <a:off x="960120" y="2816352"/>
            <a:ext cx="77724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E5E7E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Offline channel aage hai — ₹5871 Cr (52.7%) vs Online ₹5279 Cr (47.3%).</a:t>
            </a:r>
            <a:endParaRPr lang="en-US" sz="1100" dirty="0"/>
          </a:p>
        </p:txBody>
      </p:sp>
      <p:sp>
        <p:nvSpPr>
          <p:cNvPr id="18" name="Shape 16"/>
          <p:cNvSpPr/>
          <p:nvPr/>
        </p:nvSpPr>
        <p:spPr>
          <a:xfrm>
            <a:off x="365760" y="3355848"/>
            <a:ext cx="502920" cy="502920"/>
          </a:xfrm>
          <a:prstGeom prst="ellipse">
            <a:avLst/>
          </a:prstGeom>
          <a:solidFill>
            <a:srgbClr val="F5A623"/>
          </a:solidFill>
          <a:ln w="12700">
            <a:solidFill>
              <a:srgbClr val="F5A623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365760" y="3355848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dirty="0">
                <a:solidFill>
                  <a:srgbClr val="000000"/>
                </a:solidFill>
              </a:rPr>
              <a:t>📦</a:t>
            </a:r>
            <a:endParaRPr lang="en-US" sz="1800" dirty="0"/>
          </a:p>
        </p:txBody>
      </p:sp>
      <p:sp>
        <p:nvSpPr>
          <p:cNvPr id="20" name="Text 18"/>
          <p:cNvSpPr/>
          <p:nvPr/>
        </p:nvSpPr>
        <p:spPr>
          <a:xfrm>
            <a:off x="960120" y="3355848"/>
            <a:ext cx="25603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5A62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Low Priority = High Profit:</a:t>
            </a:r>
            <a:endParaRPr lang="en-US" sz="1200" dirty="0"/>
          </a:p>
        </p:txBody>
      </p:sp>
      <p:sp>
        <p:nvSpPr>
          <p:cNvPr id="21" name="Text 19"/>
          <p:cNvSpPr/>
          <p:nvPr/>
        </p:nvSpPr>
        <p:spPr>
          <a:xfrm>
            <a:off x="960120" y="3584448"/>
            <a:ext cx="77724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E5E7E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"L" priority orders ka sabse zyada cumulative profit raha — ₹918 Cr.</a:t>
            </a:r>
            <a:endParaRPr lang="en-US" sz="1100" dirty="0"/>
          </a:p>
        </p:txBody>
      </p:sp>
      <p:sp>
        <p:nvSpPr>
          <p:cNvPr id="22" name="Shape 20"/>
          <p:cNvSpPr/>
          <p:nvPr/>
        </p:nvSpPr>
        <p:spPr>
          <a:xfrm>
            <a:off x="365760" y="4123944"/>
            <a:ext cx="502920" cy="502920"/>
          </a:xfrm>
          <a:prstGeom prst="ellipse">
            <a:avLst/>
          </a:prstGeom>
          <a:solidFill>
            <a:srgbClr val="F5A623"/>
          </a:solidFill>
          <a:ln w="12700">
            <a:solidFill>
              <a:srgbClr val="F5A623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365760" y="4123944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dirty="0">
                <a:solidFill>
                  <a:srgbClr val="000000"/>
                </a:solidFill>
              </a:rPr>
              <a:t>🏆</a:t>
            </a:r>
            <a:endParaRPr lang="en-US" sz="1800" dirty="0"/>
          </a:p>
        </p:txBody>
      </p:sp>
      <p:sp>
        <p:nvSpPr>
          <p:cNvPr id="24" name="Text 22"/>
          <p:cNvSpPr/>
          <p:nvPr/>
        </p:nvSpPr>
        <p:spPr>
          <a:xfrm>
            <a:off x="960120" y="4123944"/>
            <a:ext cx="25603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5A62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Top Market:</a:t>
            </a:r>
            <a:endParaRPr lang="en-US" sz="1200" dirty="0"/>
          </a:p>
        </p:txBody>
      </p:sp>
      <p:sp>
        <p:nvSpPr>
          <p:cNvPr id="25" name="Text 23"/>
          <p:cNvSpPr/>
          <p:nvPr/>
        </p:nvSpPr>
        <p:spPr>
          <a:xfrm>
            <a:off x="960120" y="4352544"/>
            <a:ext cx="77724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E5E7E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Cuba top 10 mein sabse zyada revenue dene wala desh hai — ₹231 Cr.</a:t>
            </a:r>
            <a:endParaRPr lang="en-US" sz="1100" dirty="0"/>
          </a:p>
        </p:txBody>
      </p:sp>
      <p:sp>
        <p:nvSpPr>
          <p:cNvPr id="26" name="Text 24"/>
          <p:cNvSpPr/>
          <p:nvPr/>
        </p:nvSpPr>
        <p:spPr>
          <a:xfrm>
            <a:off x="365760" y="4736592"/>
            <a:ext cx="84124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9CA3A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Thank You  |  Data Source: SALES_ANALYTICS.xlsx  |  Exchange Rate: 1 USD = ₹84</a:t>
            </a:r>
            <a:endParaRPr lang="en-US" sz="9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8</Slides>
  <Notes>8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8</vt:i4>
      </vt:variant>
    </vt:vector>
  </HeadingPairs>
  <TitlesOfParts>
    <vt:vector size="11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Sales Analytics Report</dc:title>
  <dc:subject>PptxGenJS Presentation</dc:subject>
  <dc:creator>PptxGenJS</dc:creator>
  <cp:lastModifiedBy>PptxGenJS</cp:lastModifiedBy>
  <cp:revision>1</cp:revision>
  <dcterms:created xsi:type="dcterms:W3CDTF">2026-04-02T19:57:18Z</dcterms:created>
  <dcterms:modified xsi:type="dcterms:W3CDTF">2026-04-02T19:57:18Z</dcterms:modified>
</cp:coreProperties>
</file>